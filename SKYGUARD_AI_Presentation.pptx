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5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913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834640"/>
          </a:xfrm>
          <a:prstGeom prst="rect">
            <a:avLst/>
          </a:prstGeom>
          <a:solidFill>
            <a:srgbClr val="061222"/>
          </a:solidFill>
          <a:ln w="12700">
            <a:solidFill>
              <a:srgbClr val="0612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0520" y="502920"/>
            <a:ext cx="822960" cy="256032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603504"/>
            <a:ext cx="2194560" cy="54864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44568" y="329184"/>
            <a:ext cx="54864" cy="603504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475488"/>
            <a:ext cx="384048" cy="109728"/>
          </a:xfrm>
          <a:prstGeom prst="lin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475488"/>
            <a:ext cx="384048" cy="109728"/>
          </a:xfrm>
          <a:prstGeom prst="lin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92608"/>
            <a:ext cx="384048" cy="109728"/>
          </a:xfrm>
          <a:prstGeom prst="lin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841248"/>
            <a:ext cx="384048" cy="109728"/>
          </a:xfrm>
          <a:prstGeom prst="lin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722376"/>
            <a:ext cx="219456" cy="219456"/>
          </a:xfrm>
          <a:prstGeom prst="line">
            <a:avLst/>
          </a:prstGeom>
          <a:solidFill>
            <a:srgbClr val="FF1744">
              <a:alpha val="70000"/>
            </a:srgbClr>
          </a:solidFill>
          <a:ln w="25400">
            <a:solidFill>
              <a:srgbClr val="FF1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920240"/>
            <a:ext cx="1828800" cy="1828800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1188720"/>
            <a:ext cx="3291840" cy="3291840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640080"/>
            <a:ext cx="4389120" cy="4389120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25D366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300" dirty="0">
                <a:solidFill>
                  <a:srgbClr val="FFFFFF"/>
                </a:solidFill>
                <a:effectLst>
                  <a:glow rad="152400">
                    <a:srgbClr val="00E5FF">
                      <a:alpha val="40000"/>
                    </a:srgbClr>
                  </a:glow>
                </a:effectLs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🛸  SKYGUARD AI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AI-BASED SMART SURVEILLANCE DRONE SYSTEM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0" y="2468880"/>
            <a:ext cx="5486400" cy="502920"/>
          </a:xfrm>
          <a:prstGeom prst="rect">
            <a:avLst/>
          </a:prstGeom>
          <a:solidFill>
            <a:srgbClr val="128C7E">
              <a:alpha val="80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2514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F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Real-time AI Detection  •  Raspberry Pi Drone  •  Cyberpunk Dashboard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3200400"/>
            <a:ext cx="1170432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200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075688" y="3200400"/>
            <a:ext cx="1170432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75688" y="3200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YOLOv8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74136" y="3200400"/>
            <a:ext cx="1170432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3200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72584" y="3200400"/>
            <a:ext cx="1170432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3200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OpenCV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71032" y="3200400"/>
            <a:ext cx="1170432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71032" y="3200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Raspberry Pi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69480" y="3200400"/>
            <a:ext cx="1170432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3200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Leaflet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" y="4114800"/>
            <a:ext cx="8741664" cy="502920"/>
          </a:xfrm>
          <a:prstGeom prst="rect">
            <a:avLst/>
          </a:prstGeom>
          <a:solidFill>
            <a:srgbClr val="061222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6052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  HACKATHON SUBMISSION  |  GPS: 12.9716°N, 77.5946°E  |  BENGALURU, INDIA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63840" y="46634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 Delivered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14</a:t>
            </a:r>
            <a:endParaRPr lang="en-US" sz="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24B376-3C8F-4551-B2F8-7F0691177D9E}"/>
              </a:ext>
            </a:extLst>
          </p:cNvPr>
          <p:cNvSpPr txBox="1"/>
          <p:nvPr/>
        </p:nvSpPr>
        <p:spPr>
          <a:xfrm>
            <a:off x="3047306" y="3654028"/>
            <a:ext cx="3268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: DRONE WORRIORS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522476" cy="20116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9164"/>
            <a:ext cx="14493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Does Surveillance Need AI?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411480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28C7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79576"/>
            <a:ext cx="36576" cy="129844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2527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Static Blind Spots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156362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cameras cannot reposition. Intruders exploit gaps in coverage easily.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143000"/>
            <a:ext cx="411480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28C7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179576"/>
            <a:ext cx="36576" cy="129844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2527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😴  Human Fatigue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156362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monitoring many feeds suffer attention lapses — threats go unnoticed.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11480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28C7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79776"/>
            <a:ext cx="36576" cy="129844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8529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Slow Response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16382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delays alerts by minutes. Modern threats need sub-second reaction.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743200"/>
            <a:ext cx="411480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128C7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779776"/>
            <a:ext cx="36576" cy="129844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8529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High 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65192" y="316382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drone surveillance systems cost ₹10L+. Inaccessible for most organisations.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434840"/>
            <a:ext cx="841248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8056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F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SKYGUARD AI solves all four problems in a single integrated platform.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822960" cy="20116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9164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SKYGUARD AI — At a Glance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170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SKYGUARD AI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87552" y="144475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surveillance system that combines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camera drone, YOLOv8 real-time detection,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futuristic command dashboard — deployable today.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377440"/>
            <a:ext cx="2633472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" y="2450592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5760" y="283464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Detection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3054096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@ 33 FPS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82112" y="2377440"/>
            <a:ext cx="2633472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182112" y="2450592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182112" y="283464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182112" y="3054096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Camera → Dashboard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98464" y="2377440"/>
            <a:ext cx="2633472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98464" y="2450592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998464" y="283464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Alerts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98464" y="3054096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Visual Siren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3611880"/>
            <a:ext cx="2633472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65760" y="3685032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65760" y="406908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Map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" y="4288536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182112" y="3611880"/>
            <a:ext cx="2633472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182112" y="3685032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182112" y="406908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182112" y="4288536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Alt, Speed, GPS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998464" y="3611880"/>
            <a:ext cx="2633472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998464" y="3685032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998464" y="406908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Sweep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998464" y="4288536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Canvas-based 30 FPS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133856" cy="20116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9164"/>
            <a:ext cx="10607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Three-Layer System Design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0432"/>
            <a:ext cx="6858000" cy="1024128"/>
          </a:xfrm>
          <a:prstGeom prst="rect">
            <a:avLst/>
          </a:prstGeom>
          <a:solidFill>
            <a:srgbClr val="0D2137"/>
          </a:solidFill>
          <a:ln w="25400">
            <a:solidFill>
              <a:srgbClr val="25D3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70432"/>
            <a:ext cx="54864" cy="102412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12435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DRONE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4996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Raspberry Pi 4B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24128" y="1700784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Camera v2  →  picamera2  →  Flask MJPEG Server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8001  |  640×480  |  WiFi 802.11n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2194560"/>
            <a:ext cx="0" cy="164592"/>
          </a:xfrm>
          <a:prstGeom prst="line">
            <a:avLst/>
          </a:prstGeom>
          <a:noFill/>
          <a:ln w="25400">
            <a:solidFill>
              <a:srgbClr val="25D3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2322576"/>
            <a:ext cx="274320" cy="0"/>
          </a:xfrm>
          <a:prstGeom prst="line">
            <a:avLst/>
          </a:prstGeom>
          <a:noFill/>
          <a:ln w="25400">
            <a:solidFill>
              <a:srgbClr val="25D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21284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HTTP/MJPEG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2404872"/>
            <a:ext cx="6858000" cy="1024128"/>
          </a:xfrm>
          <a:prstGeom prst="rect">
            <a:avLst/>
          </a:prstGeom>
          <a:solidFill>
            <a:srgbClr val="0D2137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04872"/>
            <a:ext cx="54864" cy="10241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60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24128" y="2478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PROCESSING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27340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PC / Server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24128" y="2935224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(port 8000) + YOLOv8n + OpenCV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/video  /alerts  /telemetry  /detections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3429000"/>
            <a:ext cx="0" cy="164592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0440" y="3557016"/>
            <a:ext cx="27432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4472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HTTP/MJPEG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3639312"/>
            <a:ext cx="6858000" cy="1024128"/>
          </a:xfrm>
          <a:prstGeom prst="rect">
            <a:avLst/>
          </a:prstGeom>
          <a:solidFill>
            <a:srgbClr val="0D2137"/>
          </a:solidFill>
          <a:ln w="25400">
            <a:solidFill>
              <a:srgbClr val="FF6D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639312"/>
            <a:ext cx="54864" cy="10241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24128" y="37124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24128" y="39684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Dashboard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24128" y="4169664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(port 5173) + Framer Motion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LiveFeed | Radar | Map | Alerts | Telemetry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1371600"/>
            <a:ext cx="1508760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128C7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06640" y="1408176"/>
            <a:ext cx="36576" cy="138988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144475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52360" y="184708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50ms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52360" y="21671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2066544" cy="20116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9164"/>
            <a:ext cx="1993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RASPBERRY PI INTEGRATION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Drone Camera Setup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1556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1521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554480"/>
            <a:ext cx="40233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5910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Raspberry Pi 4B — 4 GB 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1956816"/>
            <a:ext cx="4023360" cy="347472"/>
          </a:xfrm>
          <a:prstGeom prst="rect">
            <a:avLst/>
          </a:prstGeom>
          <a:solidFill>
            <a:srgbClr val="0B1A2C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993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 Camera Module v2 — 8 MP Sony IMX219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2359152"/>
            <a:ext cx="40233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 FPS @ 1080p (captured at 640×480)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5760" y="2761488"/>
            <a:ext cx="4023360" cy="347472"/>
          </a:xfrm>
          <a:prstGeom prst="rect">
            <a:avLst/>
          </a:prstGeom>
          <a:solidFill>
            <a:srgbClr val="0B1A2C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7980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5V / 3A BEC from drone LiPo battery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65760" y="3163824"/>
            <a:ext cx="40233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2.4 GHz / 5 GHz WiFi 802.11n</a:t>
            </a:r>
            <a:endParaRPr lang="en-US" sz="10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15568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20640" y="115214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camera_server.py  (on Pi)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663440" y="1572768"/>
            <a:ext cx="4251960" cy="3246120"/>
          </a:xfrm>
          <a:prstGeom prst="rect">
            <a:avLst/>
          </a:prstGeom>
          <a:solidFill>
            <a:srgbClr val="060E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0" y="166420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picamera2 import Picamera2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754880" y="1872691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cv2, flask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754880" y="2081174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754880" y="228965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picam = Picamera2()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4754880" y="2498141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picam.configure(create_video_configuration(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4754880" y="2706624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main={"size": (640, 480)}))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754880" y="2915107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picam.start()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4754880" y="312359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4754880" y="3332074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generate():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4754880" y="3540557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frame = picam.capture_array()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754880" y="374904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frame_bgr = cv2.cvtColor(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754880" y="3957523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frame, cv2.COLOR_RGB2BGR)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754880" y="4166006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buf = cv2.imencode('.jpg', frame_bgr)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4754880" y="437449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 b'--frame\r\n' + buf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365760" y="4526280"/>
            <a:ext cx="8412480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02920" y="45720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F8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🌐  Network: Verify stream at  http://&lt;pi-ip&gt;:8001/stream  before starting FastAPI backend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900684" cy="20116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9164"/>
            <a:ext cx="8275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YOLOv8 Detection Pipeline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15568"/>
            <a:ext cx="1243584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70432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" y="1664208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Camera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1901952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640×480 RGB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91056" y="1700784"/>
            <a:ext cx="192024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" y="1627632"/>
            <a:ext cx="192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1115568"/>
            <a:ext cx="1243584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1170432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83080" y="1664208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83080" y="1901952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Convert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26664" y="1700784"/>
            <a:ext cx="192024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26664" y="1627632"/>
            <a:ext cx="192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18688" y="1115568"/>
            <a:ext cx="1243584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1170432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18688" y="1664208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18688" y="1901952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62272" y="1700784"/>
            <a:ext cx="192024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1627632"/>
            <a:ext cx="192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</a:rPr>
              <a:t>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54296" y="1115568"/>
            <a:ext cx="1243584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4296" y="1170432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654296" y="1664208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54296" y="1901952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97880" y="1700784"/>
            <a:ext cx="192024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192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9904" y="1115568"/>
            <a:ext cx="1243584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9904" y="1170432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089904" y="1664208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89904" y="1901952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+ HUD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33488" y="1700784"/>
            <a:ext cx="192024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33488" y="1627632"/>
            <a:ext cx="192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</a:rPr>
              <a:t>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25512" y="1115568"/>
            <a:ext cx="1243584" cy="1170432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25512" y="1170432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525512" y="1664208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525512" y="1901952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/video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5760" y="2487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Classes &amp; Threat Mapping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65760" y="2834640"/>
            <a:ext cx="265176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283464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person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554480" y="2962656"/>
            <a:ext cx="1463040" cy="25603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6" name="Text 44"/>
          <p:cNvSpPr/>
          <p:nvPr/>
        </p:nvSpPr>
        <p:spPr>
          <a:xfrm>
            <a:off x="2057400" y="2962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0" y="2834640"/>
            <a:ext cx="265176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283464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truck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389120" y="2962656"/>
            <a:ext cx="1463040" cy="25603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62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0" y="2834640"/>
            <a:ext cx="265176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283464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car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223760" y="2967228"/>
            <a:ext cx="1463040" cy="25603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26680" y="2962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3438144"/>
            <a:ext cx="265176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438144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 motorcycle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547719" y="3575304"/>
            <a:ext cx="1463040" cy="25603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57400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00400" y="3438144"/>
            <a:ext cx="265176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3438144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bus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386544" y="3559334"/>
            <a:ext cx="146304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92040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035040" y="3438144"/>
            <a:ext cx="2651760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0" y="3438144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 bicycle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223760" y="3552445"/>
            <a:ext cx="146304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26680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⚙️  Confidence threshold: 0.35  |  Model: yolov8n.pt (6.3 MB)  |  mAP50: 37.3% (COCO val)  |  GPU: 33–40 FPS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900684" cy="20116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9164"/>
            <a:ext cx="8275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Command &amp; Control Dashboard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1298448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5214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773936" y="1115568"/>
            <a:ext cx="1298448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3936" y="115214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1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73936" y="1426464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THREATS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182112" y="1115568"/>
            <a:ext cx="1298448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15214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82112" y="1426464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LOGGED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590288" y="1115568"/>
            <a:ext cx="1298448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115214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90288" y="1426464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FPS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5998464" y="1115568"/>
            <a:ext cx="1298448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8464" y="115214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98.4%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98464" y="1426464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7406640" y="1115568"/>
            <a:ext cx="1298448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152144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67°C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1426464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TEMP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65760" y="1792224"/>
            <a:ext cx="1828800" cy="1554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828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📡 RADAR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87552" y="2414016"/>
            <a:ext cx="585216" cy="585216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2203704"/>
            <a:ext cx="1005840" cy="1005840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00E5FF">
                <a:alpha val="2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2066544"/>
            <a:ext cx="1280160" cy="1280160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25D366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36192" y="2359152"/>
            <a:ext cx="91440" cy="91440"/>
          </a:xfrm>
          <a:prstGeom prst="lin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2688" y="2834640"/>
            <a:ext cx="91440" cy="91440"/>
          </a:xfrm>
          <a:prstGeom prst="lin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419856"/>
            <a:ext cx="1828800" cy="1408176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45643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TELEMETRY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73075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BATTERY: 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371600" y="373075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98678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ALTITUDE: 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371600" y="398678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2428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SPEED: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371600" y="424281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26.4 m/s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4988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SIGNAL: 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371600" y="449884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22576" y="1792224"/>
            <a:ext cx="4389120" cy="3035808"/>
          </a:xfrm>
          <a:prstGeom prst="rect">
            <a:avLst/>
          </a:prstGeom>
          <a:solidFill>
            <a:srgbClr val="00000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0" y="1828800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📷 LIVE FEED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22576" y="2084832"/>
            <a:ext cx="4389120" cy="2615184"/>
          </a:xfrm>
          <a:prstGeom prst="rect">
            <a:avLst/>
          </a:prstGeom>
          <a:solidFill>
            <a:srgbClr val="050E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91840" y="2377440"/>
            <a:ext cx="822960" cy="1280160"/>
          </a:xfrm>
          <a:prstGeom prst="rect">
            <a:avLst/>
          </a:prstGeom>
          <a:solidFill>
            <a:srgbClr val="FF1744">
              <a:alpha val="10000"/>
            </a:srgbClr>
          </a:solidFill>
          <a:ln w="25400">
            <a:solidFill>
              <a:srgbClr val="FF17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91840" y="2377440"/>
            <a:ext cx="1005840" cy="20116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0128" y="2395728"/>
            <a:ext cx="9692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 94%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120640" y="3108960"/>
            <a:ext cx="640080" cy="320040"/>
          </a:xfrm>
          <a:prstGeom prst="line">
            <a:avLst/>
          </a:prstGeom>
          <a:solidFill>
            <a:srgbClr val="FF6D00">
              <a:alpha val="15000"/>
            </a:srgbClr>
          </a:solidFill>
          <a:ln w="25400">
            <a:solidFill>
              <a:srgbClr val="FF6D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84064" y="3017520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 76%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423160" y="45720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REC  31 FPS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858000" y="1792224"/>
            <a:ext cx="2011680" cy="3035808"/>
          </a:xfrm>
          <a:prstGeom prst="rect">
            <a:avLst/>
          </a:prstGeom>
          <a:solidFill>
            <a:srgbClr val="0D2137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18288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🚨 ALERTS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31152" y="2103120"/>
            <a:ext cx="1865376" cy="640080"/>
          </a:xfrm>
          <a:prstGeom prst="rect">
            <a:avLst/>
          </a:prstGeom>
          <a:solidFill>
            <a:srgbClr val="0B1526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86016" y="2139696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HIGH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86016" y="234086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— conf 94%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986016" y="2523744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12.9716°N  77.5946°E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931152" y="2852928"/>
            <a:ext cx="1865376" cy="640080"/>
          </a:xfrm>
          <a:prstGeom prst="rect">
            <a:avLst/>
          </a:prstGeom>
          <a:solidFill>
            <a:srgbClr val="0B1526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86016" y="2889504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MED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986016" y="309067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— conf 76%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986016" y="3273552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12.9716°N  77.5946°E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931152" y="3602736"/>
            <a:ext cx="1865376" cy="640080"/>
          </a:xfrm>
          <a:prstGeom prst="rect">
            <a:avLst/>
          </a:prstGeom>
          <a:solidFill>
            <a:srgbClr val="0B152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86016" y="363931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LOW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986016" y="3840480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— conf 61%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986016" y="4023360"/>
            <a:ext cx="17556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12.9716°N  77.5946°E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211580" cy="20116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9164"/>
            <a:ext cx="11384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ALERTS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Threat Alert System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8412480" cy="1042416"/>
          </a:xfrm>
          <a:prstGeom prst="rect">
            <a:avLst/>
          </a:prstGeom>
          <a:solidFill>
            <a:srgbClr val="0D2137"/>
          </a:solidFill>
          <a:ln w="25400">
            <a:solidFill>
              <a:srgbClr val="FF1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64008" cy="1042416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353312"/>
            <a:ext cx="1170432" cy="27432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5331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🔴  HIGH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129844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TARGETS: person, truck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1572768"/>
            <a:ext cx="6675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siren + red pulsing glow. Immediate operator attention required.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0" y="1536192"/>
            <a:ext cx="1645920" cy="109728"/>
          </a:xfrm>
          <a:prstGeom prst="rect">
            <a:avLst/>
          </a:prstGeom>
          <a:solidFill>
            <a:srgbClr val="0B1526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536192"/>
            <a:ext cx="1547165" cy="10972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68249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 conf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395728"/>
            <a:ext cx="8412480" cy="1042416"/>
          </a:xfrm>
          <a:prstGeom prst="rect">
            <a:avLst/>
          </a:prstGeom>
          <a:solidFill>
            <a:srgbClr val="0D2137"/>
          </a:solidFill>
          <a:ln w="25400">
            <a:solidFill>
              <a:srgbClr val="FF6D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95728"/>
            <a:ext cx="64008" cy="1042416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560320"/>
            <a:ext cx="1170432" cy="2743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603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🟠  MEDIUM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74520" y="250545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TARGETS: car, motorcycle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2779776"/>
            <a:ext cx="6675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alert card. Elevated monitoring. No audio siren.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2743200"/>
            <a:ext cx="1645920" cy="109728"/>
          </a:xfrm>
          <a:prstGeom prst="rect">
            <a:avLst/>
          </a:prstGeom>
          <a:solidFill>
            <a:srgbClr val="0B1526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2743200"/>
            <a:ext cx="1250899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88950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76% conf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602736"/>
            <a:ext cx="8412480" cy="1042416"/>
          </a:xfrm>
          <a:prstGeom prst="rect">
            <a:avLst/>
          </a:prstGeom>
          <a:solidFill>
            <a:srgbClr val="0D2137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602736"/>
            <a:ext cx="64008" cy="104241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767328"/>
            <a:ext cx="1170432" cy="2743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7673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🔵  LOW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74520" y="371246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TARGETS: bus, bicycle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74520" y="3986784"/>
            <a:ext cx="6675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info card. Logged to history. No interruption.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0" y="3950208"/>
            <a:ext cx="1645920" cy="109728"/>
          </a:xfrm>
          <a:prstGeom prst="rect">
            <a:avLst/>
          </a:prstGeom>
          <a:solidFill>
            <a:srgbClr val="0B152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3950208"/>
            <a:ext cx="1004011" cy="1097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409651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61% conf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4663440"/>
            <a:ext cx="8412480" cy="201168"/>
          </a:xfrm>
          <a:prstGeom prst="rect">
            <a:avLst/>
          </a:prstGeom>
          <a:solidFill>
            <a:srgbClr val="050E1A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681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📋  Alert payload: { type, confidence, threat_level, timestamp, lat, lon, message }  |  Audio: Web Audio API sawtooth oscillator sweep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056132" cy="20116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9164"/>
            <a:ext cx="9829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RADAR &amp; MAP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Tactical Radar &amp; Live Map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402336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043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188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RADAR SWEEP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52828" y="2510028"/>
            <a:ext cx="649224" cy="649224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28216" y="2185416"/>
            <a:ext cx="1298448" cy="1298448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00E5FF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03604" y="1860804"/>
            <a:ext cx="1947672" cy="1947672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00E5FF">
                <a:alpha val="2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8992" y="1536192"/>
            <a:ext cx="2596896" cy="2596896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2834640"/>
            <a:ext cx="2596896" cy="0"/>
          </a:xfrm>
          <a:prstGeom prst="line">
            <a:avLst/>
          </a:prstGeom>
          <a:noFill/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77440" y="1536192"/>
            <a:ext cx="0" cy="2596896"/>
          </a:xfrm>
          <a:prstGeom prst="line">
            <a:avLst/>
          </a:prstGeom>
          <a:noFill/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77440" y="1536192"/>
            <a:ext cx="1298448" cy="1298448"/>
          </a:xfrm>
          <a:prstGeom prst="rect">
            <a:avLst/>
          </a:prstGeom>
          <a:solidFill>
            <a:srgbClr val="00E5FF">
              <a:alpha val="12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70632" y="2130552"/>
            <a:ext cx="128016" cy="128016"/>
          </a:xfrm>
          <a:prstGeom prst="lin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688336" y="2048256"/>
            <a:ext cx="292608" cy="292608"/>
          </a:xfrm>
          <a:prstGeom prst="line">
            <a:avLst/>
          </a:prstGeom>
          <a:solidFill>
            <a:srgbClr val="FF1744">
              <a:alpha val="20000"/>
            </a:srgbClr>
          </a:solidFill>
          <a:ln w="12700">
            <a:solidFill>
              <a:srgbClr val="FF1744">
                <a:alpha val="5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581912" y="3227832"/>
            <a:ext cx="128016" cy="128016"/>
          </a:xfrm>
          <a:prstGeom prst="lin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99616" y="3145536"/>
            <a:ext cx="292608" cy="292608"/>
          </a:xfrm>
          <a:prstGeom prst="line">
            <a:avLst/>
          </a:prstGeom>
          <a:solidFill>
            <a:srgbClr val="FF6D00">
              <a:alpha val="20000"/>
            </a:srgbClr>
          </a:solidFill>
          <a:ln w="12700">
            <a:solidFill>
              <a:srgbClr val="FF6D00">
                <a:alpha val="5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36392" y="3502152"/>
            <a:ext cx="128016" cy="128016"/>
          </a:xfrm>
          <a:prstGeom prst="lin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54096" y="3419856"/>
            <a:ext cx="292608" cy="292608"/>
          </a:xfrm>
          <a:prstGeom prst="lin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44348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HIGH  ● MED  ● LOW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49808" y="4462272"/>
            <a:ext cx="91440" cy="91440"/>
          </a:xfrm>
          <a:prstGeom prst="lin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01368" y="4462272"/>
            <a:ext cx="91440" cy="91440"/>
          </a:xfrm>
          <a:prstGeom prst="lin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52928" y="4462272"/>
            <a:ext cx="91440" cy="91440"/>
          </a:xfrm>
          <a:prstGeom prst="lin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6451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500m  |  30 FPS canvas render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0" y="1115568"/>
            <a:ext cx="4251960" cy="3657600"/>
          </a:xfrm>
          <a:prstGeom prst="rect">
            <a:avLst/>
          </a:prstGeom>
          <a:solidFill>
            <a:srgbClr val="030A14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70432"/>
            <a:ext cx="329184" cy="32918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047488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TACTICAL MAP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590288" y="1572768"/>
            <a:ext cx="4206240" cy="0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590288" y="2048256"/>
            <a:ext cx="4206240" cy="0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590288" y="2523744"/>
            <a:ext cx="4206240" cy="0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90288" y="2999232"/>
            <a:ext cx="4206240" cy="0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590288" y="3474720"/>
            <a:ext cx="4206240" cy="0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590288" y="3950208"/>
            <a:ext cx="4206240" cy="0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590288" y="4425696"/>
            <a:ext cx="4206240" cy="0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590288" y="1572768"/>
            <a:ext cx="0" cy="3072384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065776" y="1572768"/>
            <a:ext cx="0" cy="3072384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541264" y="1572768"/>
            <a:ext cx="0" cy="3072384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016752" y="1572768"/>
            <a:ext cx="0" cy="3072384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492240" y="1572768"/>
            <a:ext cx="0" cy="3072384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967728" y="1572768"/>
            <a:ext cx="0" cy="3072384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443216" y="1572768"/>
            <a:ext cx="0" cy="3072384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918704" y="1572768"/>
            <a:ext cx="0" cy="3072384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8394192" y="1572768"/>
            <a:ext cx="0" cy="3072384"/>
          </a:xfrm>
          <a:prstGeom prst="line">
            <a:avLst/>
          </a:prstGeom>
          <a:noFill/>
          <a:ln w="9525">
            <a:solidFill>
              <a:srgbClr val="0E2233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6492240" y="2889504"/>
            <a:ext cx="402336" cy="402336"/>
          </a:xfrm>
          <a:prstGeom prst="lin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601968" y="2999232"/>
            <a:ext cx="182880" cy="182880"/>
          </a:xfrm>
          <a:prstGeom prst="lin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821424" y="29992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🛸 DRONE-ALPHA</a:t>
            </a:r>
            <a:endParaRPr lang="en-US" sz="750" dirty="0"/>
          </a:p>
        </p:txBody>
      </p:sp>
      <p:sp>
        <p:nvSpPr>
          <p:cNvPr id="51" name="Shape 47"/>
          <p:cNvSpPr/>
          <p:nvPr/>
        </p:nvSpPr>
        <p:spPr>
          <a:xfrm rot="2700000">
            <a:off x="5669280" y="2194560"/>
            <a:ext cx="182880" cy="18288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 rot="2700000">
            <a:off x="7406640" y="3657600"/>
            <a:ext cx="182880" cy="18288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663440" y="455371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12.9716°N  77.5946°E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4663440" y="4718304"/>
            <a:ext cx="4023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tiles  |  Dark cyberpunk CSS filter  |  Real-time GPS update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978408" cy="20116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9164"/>
            <a:ext cx="9052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Technology Deep Dive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0432"/>
            <a:ext cx="2670048" cy="1719072"/>
          </a:xfrm>
          <a:prstGeom prst="rect">
            <a:avLst/>
          </a:prstGeom>
          <a:solidFill>
            <a:srgbClr val="0D2137"/>
          </a:solidFill>
          <a:ln w="19050">
            <a:solidFill>
              <a:srgbClr val="25D3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70432"/>
            <a:ext cx="2670048" cy="310896"/>
          </a:xfrm>
          <a:prstGeom prst="rect">
            <a:avLst/>
          </a:prstGeom>
          <a:solidFill>
            <a:srgbClr val="25D366">
              <a:alpha val="80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🛸 DRONE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57276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Raspberry Pi 4B (4 GB)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88366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 Camera Module v2 – 8MP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19456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picamera2 – camera 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50545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Flask – MJPEG server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18688" y="1170432"/>
            <a:ext cx="2670048" cy="1719072"/>
          </a:xfrm>
          <a:prstGeom prst="rect">
            <a:avLst/>
          </a:prstGeom>
          <a:solidFill>
            <a:srgbClr val="0D2137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1170432"/>
            <a:ext cx="2670048" cy="310896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207008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BACKEND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8416" y="157276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FastAPI v0.111 – async REST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28416" y="188366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Uvicorn – ASGI server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28416" y="219456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YOLOv8n – Ultralytics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28416" y="250545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OpenCV 4.9 – frame I/O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1616" y="1170432"/>
            <a:ext cx="2670048" cy="1719072"/>
          </a:xfrm>
          <a:prstGeom prst="rect">
            <a:avLst/>
          </a:prstGeom>
          <a:solidFill>
            <a:srgbClr val="0D2137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71616" y="1170432"/>
            <a:ext cx="2670048" cy="310896"/>
          </a:xfrm>
          <a:prstGeom prst="rect">
            <a:avLst/>
          </a:prstGeom>
          <a:solidFill>
            <a:srgbClr val="FF6D00">
              <a:alpha val="8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1207008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FRONTEND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81344" y="157276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18 + Vite 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81344" y="188366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Tailwind CSS v3.4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81344" y="219456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Framer Motion v11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81344" y="250545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Lucide React icons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072384"/>
            <a:ext cx="2670048" cy="1719072"/>
          </a:xfrm>
          <a:prstGeom prst="rect">
            <a:avLst/>
          </a:prstGeom>
          <a:solidFill>
            <a:srgbClr val="0D2137"/>
          </a:solidFill>
          <a:ln w="19050">
            <a:solidFill>
              <a:srgbClr val="25D3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72384"/>
            <a:ext cx="2670048" cy="310896"/>
          </a:xfrm>
          <a:prstGeom prst="rect">
            <a:avLst/>
          </a:prstGeom>
          <a:solidFill>
            <a:srgbClr val="25D366">
              <a:alpha val="80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10896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MAPPING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" y="347472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Leaflet.js v1.9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" y="378561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react-leaflet v4.2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" y="409651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OpenStreetMap tiles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" y="440740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 dark cyberpunk filter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18688" y="3072384"/>
            <a:ext cx="2670048" cy="1719072"/>
          </a:xfrm>
          <a:prstGeom prst="rect">
            <a:avLst/>
          </a:prstGeom>
          <a:solidFill>
            <a:srgbClr val="0D2137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18688" y="3072384"/>
            <a:ext cx="2670048" cy="310896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310896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DESIGN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28416" y="347472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Orbitron – display font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28416" y="378561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Share Tech Mono – HUD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328416" y="409651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Glassmorphism panels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28416" y="440740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Animated boot sequence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71616" y="3072384"/>
            <a:ext cx="2670048" cy="1719072"/>
          </a:xfrm>
          <a:prstGeom prst="rect">
            <a:avLst/>
          </a:prstGeom>
          <a:solidFill>
            <a:srgbClr val="0D2137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71616" y="3072384"/>
            <a:ext cx="2670048" cy="310896"/>
          </a:xfrm>
          <a:prstGeom prst="rect">
            <a:avLst/>
          </a:prstGeom>
          <a:solidFill>
            <a:srgbClr val="FF6D00">
              <a:alpha val="8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63056" y="310896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UX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81344" y="347472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 Audio API siren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81344" y="378561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Canvas radar 30 FPS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81344" y="409651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MJPEG stream viewer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81344" y="440740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Framer Motion animations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056132" cy="20116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9164"/>
            <a:ext cx="9829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Benchmarks &amp; Metrics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0432"/>
            <a:ext cx="1956816" cy="1207008"/>
          </a:xfrm>
          <a:prstGeom prst="rect">
            <a:avLst/>
          </a:prstGeom>
          <a:solidFill>
            <a:srgbClr val="0D2137"/>
          </a:solidFill>
          <a:ln w="25400">
            <a:solidFill>
              <a:srgbClr val="25D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25296"/>
            <a:ext cx="1956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 FPS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Inference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(RTX 3060)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05456" y="1170432"/>
            <a:ext cx="1956816" cy="1207008"/>
          </a:xfrm>
          <a:prstGeom prst="rect">
            <a:avLst/>
          </a:prstGeom>
          <a:solidFill>
            <a:srgbClr val="0D2137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225296"/>
            <a:ext cx="1956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50ms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05456" y="1847088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1170432"/>
            <a:ext cx="1956816" cy="1207008"/>
          </a:xfrm>
          <a:prstGeom prst="rect">
            <a:avLst/>
          </a:prstGeom>
          <a:solidFill>
            <a:srgbClr val="0D2137"/>
          </a:solidFill>
          <a:ln w="25400">
            <a:solidFill>
              <a:srgbClr val="FF6D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225296"/>
            <a:ext cx="1956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8–12 FPS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45152" y="1847088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Inference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(i7 11th Gen)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84848" y="1170432"/>
            <a:ext cx="1956816" cy="1207008"/>
          </a:xfrm>
          <a:prstGeom prst="rect">
            <a:avLst/>
          </a:prstGeom>
          <a:solidFill>
            <a:srgbClr val="0D2137"/>
          </a:solidFill>
          <a:ln w="25400">
            <a:solidFill>
              <a:srgbClr val="25D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1225296"/>
            <a:ext cx="19568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6.3 MB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84848" y="1847088"/>
            <a:ext cx="1956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5786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Performance Breakdown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841248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626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Camera stream FPS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49040" y="29626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FPS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29626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JPEG encoding on Pi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8412480" cy="256032"/>
          </a:xfrm>
          <a:prstGeom prst="rect">
            <a:avLst/>
          </a:prstGeom>
          <a:solidFill>
            <a:srgbClr val="0B152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3697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quality / bandwidth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49040" y="32369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 / 4.2 MB/s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323697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quality vs latency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474720"/>
            <a:ext cx="841248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51129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confidence threshold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49040" y="351129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351129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surveillance recall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749040"/>
            <a:ext cx="8412480" cy="256032"/>
          </a:xfrm>
          <a:prstGeom prst="rect">
            <a:avLst/>
          </a:prstGeom>
          <a:solidFill>
            <a:srgbClr val="0B152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7856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on COCO validation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49040" y="378561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37.3%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37856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yolov8n.pt weights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023360"/>
            <a:ext cx="841248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05993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 latency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749040" y="405993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100 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405993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to alert card display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4297680"/>
            <a:ext cx="8412480" cy="256032"/>
          </a:xfrm>
          <a:prstGeom prst="rect">
            <a:avLst/>
          </a:prstGeom>
          <a:solidFill>
            <a:srgbClr val="0B1526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3342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GPS update interval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49040" y="43342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seconds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43342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API polling period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60857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history buffer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749040" y="46085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events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0" y="460857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in-memory store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" y="2907792"/>
            <a:ext cx="8412480" cy="0"/>
          </a:xfrm>
          <a:prstGeom prst="rect">
            <a:avLst/>
          </a:prstGeom>
          <a:solidFill>
            <a:srgbClr val="0D2137"/>
          </a:solidFill>
          <a:ln w="6350">
            <a:solidFill>
              <a:srgbClr val="00E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056132" cy="20116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9164"/>
            <a:ext cx="9829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 &amp; RUN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SKYGUARD Running in 3 Steps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61872"/>
            <a:ext cx="502920" cy="502920"/>
          </a:xfrm>
          <a:prstGeom prst="lin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1298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D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(Drone)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7552" y="1627632"/>
            <a:ext cx="7790688" cy="676656"/>
          </a:xfrm>
          <a:prstGeom prst="rect">
            <a:avLst/>
          </a:prstGeom>
          <a:solidFill>
            <a:srgbClr val="060E1A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700784"/>
            <a:ext cx="7589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pip3 install flask picamera2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" y="1892808"/>
            <a:ext cx="7589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camera_server.py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2084832"/>
            <a:ext cx="7589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Stream at http://&lt;pi-ip&gt;:8001/stream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502920" cy="502920"/>
          </a:xfrm>
          <a:prstGeom prst="lin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23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87552" y="2560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(Host PC)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87552" y="2889504"/>
            <a:ext cx="7790688" cy="676656"/>
          </a:xfrm>
          <a:prstGeom prst="rect">
            <a:avLst/>
          </a:prstGeom>
          <a:solidFill>
            <a:srgbClr val="060E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2962656"/>
            <a:ext cx="7589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" y="3154680"/>
            <a:ext cx="7589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PI_STREAM_URL in detector.py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" y="3346704"/>
            <a:ext cx="7589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--port 8000 --reload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785616"/>
            <a:ext cx="502920" cy="502920"/>
          </a:xfrm>
          <a:prstGeom prst="lin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85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38221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(Browser)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87552" y="4151376"/>
            <a:ext cx="7790688" cy="676656"/>
          </a:xfrm>
          <a:prstGeom prst="rect">
            <a:avLst/>
          </a:prstGeom>
          <a:solidFill>
            <a:srgbClr val="060E1A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4224528"/>
            <a:ext cx="7589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" y="4416552"/>
            <a:ext cx="7589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" y="4608576"/>
            <a:ext cx="7589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http://localhost:5173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6268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745236" cy="201168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169164"/>
            <a:ext cx="6720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 for SKYGUARD AI?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0432"/>
            <a:ext cx="2697480" cy="3566160"/>
          </a:xfrm>
          <a:prstGeom prst="rect">
            <a:avLst/>
          </a:prstGeom>
          <a:solidFill>
            <a:srgbClr val="0D2137"/>
          </a:solidFill>
          <a:ln w="25400">
            <a:solidFill>
              <a:srgbClr val="25D3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70432"/>
            <a:ext cx="2697480" cy="640080"/>
          </a:xfrm>
          <a:prstGeom prst="rect">
            <a:avLst/>
          </a:prstGeom>
          <a:solidFill>
            <a:srgbClr val="25D366">
              <a:alpha val="85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 PHASE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499616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0–3 Months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1901952"/>
            <a:ext cx="2487168" cy="548640"/>
          </a:xfrm>
          <a:prstGeom prst="rect">
            <a:avLst/>
          </a:prstGeom>
          <a:solidFill>
            <a:srgbClr val="0B1526"/>
          </a:solidFill>
          <a:ln w="6350">
            <a:solidFill>
              <a:srgbClr val="25D36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56816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YOLO fine-tune on aerial dataset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2560320"/>
            <a:ext cx="2487168" cy="548640"/>
          </a:xfrm>
          <a:prstGeom prst="rect">
            <a:avLst/>
          </a:prstGeom>
          <a:solidFill>
            <a:srgbClr val="0B1526"/>
          </a:solidFill>
          <a:ln w="6350">
            <a:solidFill>
              <a:srgbClr val="25D36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15184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WebSocket real-time events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218688"/>
            <a:ext cx="2487168" cy="548640"/>
          </a:xfrm>
          <a:prstGeom prst="rect">
            <a:avLst/>
          </a:prstGeom>
          <a:solidFill>
            <a:srgbClr val="0B1526"/>
          </a:solidFill>
          <a:ln w="6350">
            <a:solidFill>
              <a:srgbClr val="25D366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73552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Multi-drone feed switching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" y="3877056"/>
            <a:ext cx="2487168" cy="548640"/>
          </a:xfrm>
          <a:prstGeom prst="rect">
            <a:avLst/>
          </a:prstGeom>
          <a:solidFill>
            <a:srgbClr val="0B1526"/>
          </a:solidFill>
          <a:ln w="6350">
            <a:solidFill>
              <a:srgbClr val="25D36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93192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ONNX / TFLite Pi 5 inference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1170432"/>
            <a:ext cx="2697480" cy="3566160"/>
          </a:xfrm>
          <a:prstGeom prst="rect">
            <a:avLst/>
          </a:prstGeom>
          <a:solidFill>
            <a:srgbClr val="0D2137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170432"/>
            <a:ext cx="2697480" cy="640080"/>
          </a:xfrm>
          <a:prstGeom prst="rect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0700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PHASE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1499616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3–6 Months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55848" y="1901952"/>
            <a:ext cx="2487168" cy="548640"/>
          </a:xfrm>
          <a:prstGeom prst="rect">
            <a:avLst/>
          </a:prstGeom>
          <a:solidFill>
            <a:srgbClr val="0B1526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1956816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MAVLink autopilot integration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55848" y="2560320"/>
            <a:ext cx="2487168" cy="548640"/>
          </a:xfrm>
          <a:prstGeom prst="rect">
            <a:avLst/>
          </a:prstGeom>
          <a:solidFill>
            <a:srgbClr val="0B1526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615184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IR night vision camera module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55848" y="3218688"/>
            <a:ext cx="2487168" cy="548640"/>
          </a:xfrm>
          <a:prstGeom prst="rect">
            <a:avLst/>
          </a:prstGeom>
          <a:solidFill>
            <a:srgbClr val="0B1526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273552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License plate recognition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55848" y="3877056"/>
            <a:ext cx="2487168" cy="548640"/>
          </a:xfrm>
          <a:prstGeom prst="rect">
            <a:avLst/>
          </a:prstGeom>
          <a:solidFill>
            <a:srgbClr val="0B1526"/>
          </a:solidFill>
          <a:ln w="635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393192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Native mobile app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1170432"/>
            <a:ext cx="2697480" cy="3566160"/>
          </a:xfrm>
          <a:prstGeom prst="rect">
            <a:avLst/>
          </a:prstGeom>
          <a:solidFill>
            <a:srgbClr val="0D2137"/>
          </a:solidFill>
          <a:ln w="25400">
            <a:solidFill>
              <a:srgbClr val="FFD6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1170432"/>
            <a:ext cx="2697480" cy="640080"/>
          </a:xfrm>
          <a:prstGeom prst="rect">
            <a:avLst/>
          </a:prstGeom>
          <a:solidFill>
            <a:srgbClr val="FFD600">
              <a:alpha val="85000"/>
            </a:srgbClr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20700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PHASE 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17920" y="1499616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6–12 Months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36208" y="1901952"/>
            <a:ext cx="2487168" cy="548640"/>
          </a:xfrm>
          <a:prstGeom prst="rect">
            <a:avLst/>
          </a:prstGeom>
          <a:solidFill>
            <a:srgbClr val="0B1526"/>
          </a:solidFill>
          <a:ln w="6350">
            <a:solidFill>
              <a:srgbClr val="FFD600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1956816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Swarm drone coordination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36208" y="2560320"/>
            <a:ext cx="2487168" cy="548640"/>
          </a:xfrm>
          <a:prstGeom prst="rect">
            <a:avLst/>
          </a:prstGeom>
          <a:solidFill>
            <a:srgbClr val="0B1526"/>
          </a:solidFill>
          <a:ln w="6350">
            <a:solidFill>
              <a:srgbClr val="FFD600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2615184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NVIDIA Jetson edge AI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6208" y="3218688"/>
            <a:ext cx="2487168" cy="548640"/>
          </a:xfrm>
          <a:prstGeom prst="rect">
            <a:avLst/>
          </a:prstGeom>
          <a:solidFill>
            <a:srgbClr val="0B1526"/>
          </a:solidFill>
          <a:ln w="6350">
            <a:solidFill>
              <a:srgbClr val="FFD600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3273552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ONVIF CCTV integration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36208" y="3877056"/>
            <a:ext cx="2487168" cy="548640"/>
          </a:xfrm>
          <a:prstGeom prst="rect">
            <a:avLst/>
          </a:prstGeom>
          <a:solidFill>
            <a:srgbClr val="0B1526"/>
          </a:solidFill>
          <a:ln w="6350">
            <a:solidFill>
              <a:srgbClr val="FFD600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393192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 incident report generation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754880"/>
            <a:ext cx="8412480" cy="182880"/>
          </a:xfrm>
          <a:prstGeom prst="rect">
            <a:avLst/>
          </a:prstGeom>
          <a:solidFill>
            <a:srgbClr val="0D2137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773168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F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"The future is autonomous, and SKYGUARD AI is already there."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C1A"/>
          </a:solidFill>
          <a:ln w="12700">
            <a:solidFill>
              <a:srgbClr val="04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0520" y="292608"/>
            <a:ext cx="822960" cy="256032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393192"/>
            <a:ext cx="2194560" cy="54864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44568" y="128016"/>
            <a:ext cx="54864" cy="585216"/>
          </a:xfrm>
          <a:prstGeom prst="rect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74320"/>
            <a:ext cx="384048" cy="109728"/>
          </a:xfrm>
          <a:prstGeom prst="lin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274320"/>
            <a:ext cx="384048" cy="109728"/>
          </a:xfrm>
          <a:prstGeom prst="line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2194560"/>
            <a:ext cx="1463040" cy="1463040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00E5FF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645920"/>
            <a:ext cx="2560320" cy="2560320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00E5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005840"/>
            <a:ext cx="3840480" cy="3840480"/>
          </a:xfrm>
          <a:prstGeom prst="line">
            <a:avLst/>
          </a:prstGeom>
          <a:solidFill>
            <a:srgbClr val="0A1628">
              <a:alpha val="0"/>
            </a:srgbClr>
          </a:solidFill>
          <a:ln w="12700">
            <a:solidFill>
              <a:srgbClr val="25D366">
                <a:alpha val="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2618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57200" y="208483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🛸  SKYGUARD AI — Protecting the Perimeter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" y="2834640"/>
            <a:ext cx="685800" cy="685800"/>
          </a:xfrm>
          <a:prstGeom prst="line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8803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" y="3566160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59152" y="2834640"/>
            <a:ext cx="685800" cy="685800"/>
          </a:xfrm>
          <a:prstGeom prst="line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9152" y="28803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67712" y="3566160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Cam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931920" y="2834640"/>
            <a:ext cx="685800" cy="685800"/>
          </a:xfrm>
          <a:prstGeom prst="line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28803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0" y="3566160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04688" y="2834640"/>
            <a:ext cx="685800" cy="685800"/>
          </a:xfrm>
          <a:prstGeom prst="line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4688" y="28803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13248" y="3566160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77456" y="2834640"/>
            <a:ext cx="685800" cy="685800"/>
          </a:xfrm>
          <a:prstGeom prst="line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77456" y="28803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86016" y="3566160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371600" y="4187952"/>
            <a:ext cx="6400800" cy="603504"/>
          </a:xfrm>
          <a:prstGeom prst="rect">
            <a:avLst/>
          </a:prstGeom>
          <a:solidFill>
            <a:srgbClr val="128C7E">
              <a:alpha val="90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08760" y="4279392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F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Questions? Let's talk!   |   📂 github.com/</a:t>
            </a:r>
            <a:r>
              <a:rPr lang="en-US" sz="1050" dirty="0" err="1">
                <a:solidFill>
                  <a:srgbClr val="DCF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PremaMalipatil</a:t>
            </a:r>
            <a:r>
              <a:rPr lang="en-US" sz="1050" dirty="0">
                <a:solidFill>
                  <a:srgbClr val="DCF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/skyguard-ai   |   ✓✓ Seen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1323</Words>
  <Application>Microsoft Office PowerPoint</Application>
  <PresentationFormat>On-screen Show (16:9)</PresentationFormat>
  <Paragraphs>345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SKYGUARD AI — Smart Surveillance Drone System</dc:title>
  <dc:subject>Hackathon Presentation</dc:subject>
  <dc:creator>SKYGUARD Team</dc:creator>
  <cp:lastModifiedBy>Rahul S Tawarakhed</cp:lastModifiedBy>
  <cp:revision>5</cp:revision>
  <dcterms:created xsi:type="dcterms:W3CDTF">2026-05-15T02:53:37Z</dcterms:created>
  <dcterms:modified xsi:type="dcterms:W3CDTF">2026-05-15T03:36:15Z</dcterms:modified>
</cp:coreProperties>
</file>