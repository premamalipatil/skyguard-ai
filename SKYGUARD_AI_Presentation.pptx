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834640"/>
          </a:xfrm>
          <a:prstGeom prst="rect">
            <a:avLst/>
          </a:prstGeom>
          <a:solidFill>
            <a:srgbClr val="061222"/>
          </a:solidFill>
          <a:ln w="12700">
            <a:solidFill>
              <a:srgbClr val="0612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42832" y="0"/>
            <a:ext cx="201168" cy="5143500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60520" y="502920"/>
            <a:ext cx="822960" cy="256032"/>
          </a:xfrm>
          <a:prstGeom prst="rect">
            <a:avLst/>
          </a:prstGeom>
          <a:solidFill>
            <a:srgbClr val="00E5FF">
              <a:alpha val="8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4720" y="603504"/>
            <a:ext cx="2194560" cy="54864"/>
          </a:xfrm>
          <a:prstGeom prst="rect">
            <a:avLst/>
          </a:prstGeom>
          <a:solidFill>
            <a:srgbClr val="00E5FF">
              <a:alpha val="6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44568" y="329184"/>
            <a:ext cx="54864" cy="603504"/>
          </a:xfrm>
          <a:prstGeom prst="rect">
            <a:avLst/>
          </a:prstGeom>
          <a:solidFill>
            <a:srgbClr val="00E5FF">
              <a:alpha val="6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91840" y="475488"/>
            <a:ext cx="384048" cy="109728"/>
          </a:xfrm>
          <a:prstGeom prst="oval">
            <a:avLst/>
          </a:prstGeom>
          <a:solidFill>
            <a:srgbClr val="00E5FF">
              <a:alpha val="5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0" y="475488"/>
            <a:ext cx="384048" cy="109728"/>
          </a:xfrm>
          <a:prstGeom prst="oval">
            <a:avLst/>
          </a:prstGeom>
          <a:solidFill>
            <a:srgbClr val="00E5FF">
              <a:alpha val="5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0" y="292608"/>
            <a:ext cx="384048" cy="109728"/>
          </a:xfrm>
          <a:prstGeom prst="oval">
            <a:avLst/>
          </a:prstGeom>
          <a:solidFill>
            <a:srgbClr val="00E5FF">
              <a:alpha val="5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0" y="841248"/>
            <a:ext cx="384048" cy="109728"/>
          </a:xfrm>
          <a:prstGeom prst="oval">
            <a:avLst/>
          </a:prstGeom>
          <a:solidFill>
            <a:srgbClr val="00E5FF">
              <a:alpha val="5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62272" y="722376"/>
            <a:ext cx="219456" cy="219456"/>
          </a:xfrm>
          <a:prstGeom prst="oval">
            <a:avLst/>
          </a:prstGeom>
          <a:solidFill>
            <a:srgbClr val="FF1744">
              <a:alpha val="70000"/>
            </a:srgbClr>
          </a:solidFill>
          <a:ln w="25400">
            <a:solidFill>
              <a:srgbClr val="FF17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0" y="1920240"/>
            <a:ext cx="1828800" cy="1828800"/>
          </a:xfrm>
          <a:prstGeom prst="oval">
            <a:avLst/>
          </a:prstGeom>
          <a:solidFill>
            <a:srgbClr val="0A1628">
              <a:alpha val="0"/>
            </a:srgbClr>
          </a:solidFill>
          <a:ln w="12700">
            <a:solidFill>
              <a:srgbClr val="00E5FF">
                <a:alpha val="2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26080" y="1188720"/>
            <a:ext cx="3291840" cy="3291840"/>
          </a:xfrm>
          <a:prstGeom prst="oval">
            <a:avLst/>
          </a:prstGeom>
          <a:solidFill>
            <a:srgbClr val="0A1628">
              <a:alpha val="0"/>
            </a:srgbClr>
          </a:solidFill>
          <a:ln w="12700">
            <a:solidFill>
              <a:srgbClr val="00E5FF">
                <a:alpha val="1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77440" y="640080"/>
            <a:ext cx="4389120" cy="4389120"/>
          </a:xfrm>
          <a:prstGeom prst="oval">
            <a:avLst/>
          </a:prstGeom>
          <a:solidFill>
            <a:srgbClr val="0A1628">
              <a:alpha val="0"/>
            </a:srgbClr>
          </a:solidFill>
          <a:ln w="12700">
            <a:solidFill>
              <a:srgbClr val="25D366">
                <a:alpha val="1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1430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300" kern="0" dirty="0">
                <a:solidFill>
                  <a:srgbClr val="FFFFFF"/>
                </a:solidFill>
                <a:effectLst>
                  <a:glow rad="152400">
                    <a:srgbClr val="00E5FF">
                      <a:alpha val="40000"/>
                    </a:srgbClr>
                  </a:glow>
                </a:effectLst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🛸  SKYGUARD AI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457200" y="1920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AI-BASED SMART SURVEILLANCE DRONE SYSTEM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828800" y="2468880"/>
            <a:ext cx="5486400" cy="502920"/>
          </a:xfrm>
          <a:prstGeom prst="rect">
            <a:avLst>
              <a:gd name="adj" fmla="val 14545"/>
            </a:avLst>
          </a:prstGeom>
          <a:solidFill>
            <a:srgbClr val="128C7E">
              <a:alpha val="80000"/>
            </a:srgbClr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20240" y="251460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F8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 Real-time AI Detection  •  Raspberry Pi Drone  •  Cyberpunk Dashboard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3200400"/>
            <a:ext cx="1170432" cy="256032"/>
          </a:xfrm>
          <a:prstGeom prst="rect">
            <a:avLst>
              <a:gd name="adj" fmla="val 21429"/>
            </a:avLst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0040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FastAPI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075688" y="3200400"/>
            <a:ext cx="1170432" cy="256032"/>
          </a:xfrm>
          <a:prstGeom prst="rect">
            <a:avLst>
              <a:gd name="adj" fmla="val 21429"/>
            </a:avLst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75688" y="320040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YOLOv8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374136" y="3200400"/>
            <a:ext cx="1170432" cy="256032"/>
          </a:xfrm>
          <a:prstGeom prst="rect">
            <a:avLst>
              <a:gd name="adj" fmla="val 21429"/>
            </a:avLst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74136" y="320040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672584" y="3200400"/>
            <a:ext cx="1170432" cy="256032"/>
          </a:xfrm>
          <a:prstGeom prst="rect">
            <a:avLst>
              <a:gd name="adj" fmla="val 21429"/>
            </a:avLst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72584" y="320040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OpenCV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971032" y="3200400"/>
            <a:ext cx="1170432" cy="256032"/>
          </a:xfrm>
          <a:prstGeom prst="rect">
            <a:avLst>
              <a:gd name="adj" fmla="val 21429"/>
            </a:avLst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71032" y="320040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Raspberry Pi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269480" y="3200400"/>
            <a:ext cx="1170432" cy="256032"/>
          </a:xfrm>
          <a:prstGeom prst="rect">
            <a:avLst>
              <a:gd name="adj" fmla="val 21429"/>
            </a:avLst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69480" y="320040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Leaflet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01168" y="4114800"/>
            <a:ext cx="8741664" cy="502920"/>
          </a:xfrm>
          <a:prstGeom prst="rect">
            <a:avLst/>
          </a:prstGeom>
          <a:solidFill>
            <a:srgbClr val="061222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160520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🔒  HACKATHON SUBMISSION  |  GPS: 12.9716°N, 77.5946°E  |  BENGALURU, INDIA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863840" y="466344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✓✓ Delivered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14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1522476" cy="201168"/>
          </a:xfrm>
          <a:prstGeom prst="rect">
            <a:avLst>
              <a:gd name="adj" fmla="val 18182"/>
            </a:avLst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14493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 STATEMENT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Does Surveillance Need AI?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43000"/>
            <a:ext cx="4114800" cy="1371600"/>
          </a:xfrm>
          <a:prstGeom prst="rect">
            <a:avLst>
              <a:gd name="adj" fmla="val 4000"/>
            </a:avLst>
          </a:prstGeom>
          <a:solidFill>
            <a:srgbClr val="0D2137"/>
          </a:solidFill>
          <a:ln w="12700">
            <a:solidFill>
              <a:srgbClr val="128C7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179576"/>
            <a:ext cx="36576" cy="1298448"/>
          </a:xfrm>
          <a:prstGeom prst="rect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25272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Static Blind Spots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30352" y="1563624"/>
            <a:ext cx="3749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cameras cannot reposition. Intruders exploit gaps in coverage easily.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00600" y="1143000"/>
            <a:ext cx="4114800" cy="1371600"/>
          </a:xfrm>
          <a:prstGeom prst="rect">
            <a:avLst>
              <a:gd name="adj" fmla="val 4000"/>
            </a:avLst>
          </a:prstGeom>
          <a:solidFill>
            <a:srgbClr val="0D2137"/>
          </a:solidFill>
          <a:ln w="12700">
            <a:solidFill>
              <a:srgbClr val="128C7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00600" y="1179576"/>
            <a:ext cx="36576" cy="1298448"/>
          </a:xfrm>
          <a:prstGeom prst="rect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5192" y="125272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😴  Human Fatigue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65192" y="1563624"/>
            <a:ext cx="3749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monitoring many feeds suffer attention lapses — threats go unnoticed.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4114800" cy="1371600"/>
          </a:xfrm>
          <a:prstGeom prst="rect">
            <a:avLst>
              <a:gd name="adj" fmla="val 4000"/>
            </a:avLst>
          </a:prstGeom>
          <a:solidFill>
            <a:srgbClr val="0D2137"/>
          </a:solidFill>
          <a:ln w="12700">
            <a:solidFill>
              <a:srgbClr val="128C7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779776"/>
            <a:ext cx="36576" cy="1298448"/>
          </a:xfrm>
          <a:prstGeom prst="rect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285292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  Slow Response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30352" y="3163824"/>
            <a:ext cx="3749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 delays alerts by minutes. Modern threats need sub-second reaction.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00600" y="2743200"/>
            <a:ext cx="4114800" cy="1371600"/>
          </a:xfrm>
          <a:prstGeom prst="rect">
            <a:avLst>
              <a:gd name="adj" fmla="val 4000"/>
            </a:avLst>
          </a:prstGeom>
          <a:solidFill>
            <a:srgbClr val="0D2137"/>
          </a:solidFill>
          <a:ln w="12700">
            <a:solidFill>
              <a:srgbClr val="128C7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00600" y="2779776"/>
            <a:ext cx="36576" cy="1298448"/>
          </a:xfrm>
          <a:prstGeom prst="rect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65192" y="285292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 High Cost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65192" y="3163824"/>
            <a:ext cx="3749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drone surveillance systems cost ₹10L+. Inaccessible for most organisations.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65760" y="4434840"/>
            <a:ext cx="8412480" cy="402336"/>
          </a:xfrm>
          <a:prstGeom prst="rect">
            <a:avLst>
              <a:gd name="adj" fmla="val 13636"/>
            </a:avLst>
          </a:prstGeom>
          <a:solidFill>
            <a:srgbClr val="0D2137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448056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F8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SKYGUARD AI solves all four problems in a single integrated platform.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822960" cy="201168"/>
          </a:xfrm>
          <a:prstGeom prst="rect">
            <a:avLst>
              <a:gd name="adj" fmla="val 18182"/>
            </a:avLst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7498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SOLUTION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SKYGUARD AI — At a Glance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43000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87552" y="11704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D3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SKYGUARD AI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87552" y="1444752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AI surveillance system that combines 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Raspberry Pi camera drone, YOLOv8 real-time detection,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 futuristic command dashboard — deployable today.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65760" y="2377440"/>
            <a:ext cx="2633472" cy="1005840"/>
          </a:xfrm>
          <a:prstGeom prst="rect">
            <a:avLst>
              <a:gd name="adj" fmla="val 6364"/>
            </a:avLst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65760" y="2450592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65760" y="2834640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" y="3054096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 @ 33 FPS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182112" y="2377440"/>
            <a:ext cx="2633472" cy="1005840"/>
          </a:xfrm>
          <a:prstGeom prst="rect">
            <a:avLst>
              <a:gd name="adj" fmla="val 6364"/>
            </a:avLst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3182112" y="2450592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📡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3182112" y="2834640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Stream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182112" y="3054096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Camera → Dashboard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998464" y="2377440"/>
            <a:ext cx="2633472" cy="1005840"/>
          </a:xfrm>
          <a:prstGeom prst="rect">
            <a:avLst>
              <a:gd name="adj" fmla="val 6364"/>
            </a:avLst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998464" y="2450592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🚨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5998464" y="2834640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Alerts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998464" y="3054096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+ Visual Siren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65760" y="3611880"/>
            <a:ext cx="2633472" cy="1005840"/>
          </a:xfrm>
          <a:prstGeom prst="rect">
            <a:avLst>
              <a:gd name="adj" fmla="val 6364"/>
            </a:avLst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365760" y="3685032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🗺️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365760" y="4069080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Tactical Map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" y="4288536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+ OpenStreetMap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182112" y="3611880"/>
            <a:ext cx="2633472" cy="1005840"/>
          </a:xfrm>
          <a:prstGeom prst="rect">
            <a:avLst>
              <a:gd name="adj" fmla="val 6364"/>
            </a:avLst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3182112" y="3685032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3182112" y="4069080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Telemetry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182112" y="4288536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Battery, Alt, Speed, GPS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5998464" y="3611880"/>
            <a:ext cx="2633472" cy="1005840"/>
          </a:xfrm>
          <a:prstGeom prst="rect">
            <a:avLst>
              <a:gd name="adj" fmla="val 6364"/>
            </a:avLst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5998464" y="3685032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5998464" y="4069080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Sweep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5998464" y="4288536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Canvas-based 30 FPS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14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1133856" cy="201168"/>
          </a:xfrm>
          <a:prstGeom prst="rect">
            <a:avLst>
              <a:gd name="adj" fmla="val 18182"/>
            </a:avLst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10607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Three-Layer System Design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70432"/>
            <a:ext cx="6858000" cy="1024128"/>
          </a:xfrm>
          <a:prstGeom prst="rect">
            <a:avLst>
              <a:gd name="adj" fmla="val 5357"/>
            </a:avLst>
          </a:prstGeom>
          <a:solidFill>
            <a:srgbClr val="0D2137"/>
          </a:solidFill>
          <a:ln w="25400">
            <a:solidFill>
              <a:srgbClr val="25D3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170432"/>
            <a:ext cx="54864" cy="1024128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264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🛸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24128" y="124358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D3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DRONE LAYER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24128" y="149961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Raspberry Pi 4B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024128" y="1700784"/>
            <a:ext cx="6035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Camera v2  →  picamera2  →  Flask MJPEG Server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8001  |  640×480  |  WiFi 802.11n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0" y="2194560"/>
            <a:ext cx="0" cy="164592"/>
          </a:xfrm>
          <a:prstGeom prst="line">
            <a:avLst/>
          </a:prstGeom>
          <a:noFill/>
          <a:ln w="25400">
            <a:solidFill>
              <a:srgbClr val="25D3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0440" y="2322576"/>
            <a:ext cx="274320" cy="0"/>
          </a:xfrm>
          <a:prstGeom prst="line">
            <a:avLst/>
          </a:prstGeom>
          <a:noFill/>
          <a:ln w="25400">
            <a:solidFill>
              <a:srgbClr val="25D3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2212848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HTTP/MJPEG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2404872"/>
            <a:ext cx="6858000" cy="1024128"/>
          </a:xfrm>
          <a:prstGeom prst="rect">
            <a:avLst>
              <a:gd name="adj" fmla="val 5357"/>
            </a:avLst>
          </a:prstGeom>
          <a:solidFill>
            <a:srgbClr val="0D2137"/>
          </a:solidFill>
          <a:ln w="25400">
            <a:solidFill>
              <a:srgbClr val="00E5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404872"/>
            <a:ext cx="54864" cy="1024128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66090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24128" y="247802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PROCESSING LAYER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24128" y="273405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 PC / Server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024128" y="2935224"/>
            <a:ext cx="6035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(port 8000) + YOLOv8n + OpenCV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/video  /alerts  /telemetry  /detections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3429000"/>
            <a:ext cx="0" cy="164592"/>
          </a:xfrm>
          <a:prstGeom prst="line">
            <a:avLst/>
          </a:prstGeom>
          <a:noFill/>
          <a:ln w="25400">
            <a:solidFill>
              <a:srgbClr val="00E5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0440" y="3557016"/>
            <a:ext cx="274320" cy="0"/>
          </a:xfrm>
          <a:prstGeom prst="line">
            <a:avLst/>
          </a:prstGeom>
          <a:noFill/>
          <a:ln w="25400">
            <a:solidFill>
              <a:srgbClr val="00E5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49040" y="3447288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HTTP/MJPEG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365760" y="3639312"/>
            <a:ext cx="6858000" cy="1024128"/>
          </a:xfrm>
          <a:prstGeom prst="rect">
            <a:avLst>
              <a:gd name="adj" fmla="val 5357"/>
            </a:avLst>
          </a:prstGeom>
          <a:solidFill>
            <a:srgbClr val="0D2137"/>
          </a:solidFill>
          <a:ln w="25400">
            <a:solidFill>
              <a:srgbClr val="FF6D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3639312"/>
            <a:ext cx="54864" cy="1024128"/>
          </a:xfrm>
          <a:prstGeom prst="rect">
            <a:avLst/>
          </a:prstGeom>
          <a:solidFill>
            <a:srgbClr val="FF6D00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38953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🖥️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024128" y="37124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PRESENTATION LAYER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24128" y="396849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Browser Dashboard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24128" y="4169664"/>
            <a:ext cx="6035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 (port 5173) + Framer Motion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LiveFeed | Radar | Map | Alerts | Telemetry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406640" y="1371600"/>
            <a:ext cx="1508760" cy="1463040"/>
          </a:xfrm>
          <a:prstGeom prst="rect">
            <a:avLst>
              <a:gd name="adj" fmla="val 3750"/>
            </a:avLst>
          </a:prstGeom>
          <a:solidFill>
            <a:srgbClr val="0D2137"/>
          </a:solidFill>
          <a:ln w="12700">
            <a:solidFill>
              <a:srgbClr val="128C7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406640" y="1408176"/>
            <a:ext cx="36576" cy="1389888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52360" y="1444752"/>
            <a:ext cx="1417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7452360" y="1847088"/>
            <a:ext cx="1417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 50ms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452360" y="2167128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2066544" cy="201168"/>
          </a:xfrm>
          <a:prstGeom prst="rect">
            <a:avLst>
              <a:gd name="adj" fmla="val 18182"/>
            </a:avLst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19933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RASPBERRY PI INTEGRATION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Drone Camera Setup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15568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115214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65760" y="1554480"/>
            <a:ext cx="4023360" cy="347472"/>
          </a:xfrm>
          <a:prstGeom prst="rect">
            <a:avLst>
              <a:gd name="adj" fmla="val 10526"/>
            </a:avLst>
          </a:prstGeom>
          <a:solidFill>
            <a:srgbClr val="0D2137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159105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Raspberry Pi 4B — 4 GB 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1956816"/>
            <a:ext cx="4023360" cy="347472"/>
          </a:xfrm>
          <a:prstGeom prst="rect">
            <a:avLst>
              <a:gd name="adj" fmla="val 10526"/>
            </a:avLst>
          </a:prstGeom>
          <a:solidFill>
            <a:srgbClr val="0B1A2C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19933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Pi Camera Module v2 — 8 MP Sony IMX219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65760" y="2359152"/>
            <a:ext cx="4023360" cy="347472"/>
          </a:xfrm>
          <a:prstGeom prst="rect">
            <a:avLst>
              <a:gd name="adj" fmla="val 10526"/>
            </a:avLst>
          </a:prstGeom>
          <a:solidFill>
            <a:srgbClr val="0D2137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9572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30 FPS @ 1080p (captured at 640×480)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65760" y="2761488"/>
            <a:ext cx="4023360" cy="347472"/>
          </a:xfrm>
          <a:prstGeom prst="rect">
            <a:avLst>
              <a:gd name="adj" fmla="val 10526"/>
            </a:avLst>
          </a:prstGeom>
          <a:solidFill>
            <a:srgbClr val="0B1A2C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798064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5V / 3A BEC from drone LiPo battery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65760" y="3163824"/>
            <a:ext cx="4023360" cy="347472"/>
          </a:xfrm>
          <a:prstGeom prst="rect">
            <a:avLst>
              <a:gd name="adj" fmla="val 10526"/>
            </a:avLst>
          </a:prstGeom>
          <a:solidFill>
            <a:srgbClr val="0D2137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" y="3200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2.4 GHz / 5 GHz WiFi 802.11n</a:t>
            </a:r>
            <a:endParaRPr lang="en-US" sz="105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15568"/>
            <a:ext cx="384048" cy="38404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120640" y="1152144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camera_server.py  (on Pi)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4663440" y="1572768"/>
            <a:ext cx="4251960" cy="3246120"/>
          </a:xfrm>
          <a:prstGeom prst="rect">
            <a:avLst>
              <a:gd name="adj" fmla="val 1690"/>
            </a:avLst>
          </a:prstGeom>
          <a:solidFill>
            <a:srgbClr val="060E1A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754880" y="1664208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picamera2 import Picamera2</a:t>
            </a:r>
            <a:endParaRPr lang="en-US" sz="850" dirty="0"/>
          </a:p>
        </p:txBody>
      </p:sp>
      <p:sp>
        <p:nvSpPr>
          <p:cNvPr id="24" name="Text 20"/>
          <p:cNvSpPr/>
          <p:nvPr/>
        </p:nvSpPr>
        <p:spPr>
          <a:xfrm>
            <a:off x="4754880" y="1872691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cv2, flask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4754880" y="2081174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4754880" y="2289658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picam = Picamera2()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4754880" y="2498141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picam.configure(create_video_configuration(</a:t>
            </a:r>
            <a:endParaRPr lang="en-US" sz="850" dirty="0"/>
          </a:p>
        </p:txBody>
      </p:sp>
      <p:sp>
        <p:nvSpPr>
          <p:cNvPr id="28" name="Text 24"/>
          <p:cNvSpPr/>
          <p:nvPr/>
        </p:nvSpPr>
        <p:spPr>
          <a:xfrm>
            <a:off x="4754880" y="2706624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main={"size": (640, 480)}))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4754880" y="2915107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picam.start()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4754880" y="3123590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4754880" y="3332074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generate():</a:t>
            </a:r>
            <a:endParaRPr lang="en-US" sz="850" dirty="0"/>
          </a:p>
        </p:txBody>
      </p:sp>
      <p:sp>
        <p:nvSpPr>
          <p:cNvPr id="32" name="Text 28"/>
          <p:cNvSpPr/>
          <p:nvPr/>
        </p:nvSpPr>
        <p:spPr>
          <a:xfrm>
            <a:off x="4754880" y="3540557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frame = picam.capture_array()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4754880" y="3749040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frame_bgr = cv2.cvtColor(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4754880" y="3957523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frame, cv2.COLOR_RGB2BGR)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4754880" y="416600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_, buf = cv2.imencode('.jpg', frame_bgr)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4754880" y="4374490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D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yield b'--frame\r\n' + buf</a:t>
            </a:r>
            <a:endParaRPr lang="en-US" sz="850" dirty="0"/>
          </a:p>
        </p:txBody>
      </p:sp>
      <p:sp>
        <p:nvSpPr>
          <p:cNvPr id="37" name="Shape 33"/>
          <p:cNvSpPr/>
          <p:nvPr/>
        </p:nvSpPr>
        <p:spPr>
          <a:xfrm>
            <a:off x="365760" y="4526280"/>
            <a:ext cx="8412480" cy="329184"/>
          </a:xfrm>
          <a:prstGeom prst="rect">
            <a:avLst>
              <a:gd name="adj" fmla="val 11111"/>
            </a:avLst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02920" y="457200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F8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🌐  Network: Verify stream at  http://&lt;pi-ip&gt;:8001/stream  before starting FastAPI backend</a:t>
            </a:r>
            <a:endParaRPr lang="en-US" sz="950" dirty="0"/>
          </a:p>
        </p:txBody>
      </p:sp>
      <p:sp>
        <p:nvSpPr>
          <p:cNvPr id="39" name="Text 35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900684" cy="201168"/>
          </a:xfrm>
          <a:prstGeom prst="rect">
            <a:avLst>
              <a:gd name="adj" fmla="val 18182"/>
            </a:avLst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8275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YOLOv8 Detection Pipeline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1115568"/>
            <a:ext cx="1243584" cy="1170432"/>
          </a:xfrm>
          <a:prstGeom prst="rect">
            <a:avLst>
              <a:gd name="adj" fmla="val 5469"/>
            </a:avLst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" y="1170432"/>
            <a:ext cx="1243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📷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47472" y="1664208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 Camera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7472" y="1901952"/>
            <a:ext cx="1243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640×480 RGB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591056" y="1700784"/>
            <a:ext cx="192024" cy="0"/>
          </a:xfrm>
          <a:prstGeom prst="line">
            <a:avLst/>
          </a:prstGeom>
          <a:noFill/>
          <a:ln w="25400">
            <a:solidFill>
              <a:srgbClr val="00E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91056" y="1627632"/>
            <a:ext cx="192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E5FF"/>
                </a:solidFill>
              </a:rPr>
              <a:t>→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783080" y="1115568"/>
            <a:ext cx="1243584" cy="1170432"/>
          </a:xfrm>
          <a:prstGeom prst="rect">
            <a:avLst>
              <a:gd name="adj" fmla="val 5469"/>
            </a:avLst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83080" y="1170432"/>
            <a:ext cx="1243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783080" y="1664208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OpenCV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783080" y="1901952"/>
            <a:ext cx="1243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BGR Convert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026664" y="1700784"/>
            <a:ext cx="192024" cy="0"/>
          </a:xfrm>
          <a:prstGeom prst="line">
            <a:avLst/>
          </a:prstGeom>
          <a:noFill/>
          <a:ln w="25400">
            <a:solidFill>
              <a:srgbClr val="00E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26664" y="1627632"/>
            <a:ext cx="192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E5FF"/>
                </a:solidFill>
              </a:rPr>
              <a:t>→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18688" y="1115568"/>
            <a:ext cx="1243584" cy="1170432"/>
          </a:xfrm>
          <a:prstGeom prst="rect">
            <a:avLst>
              <a:gd name="adj" fmla="val 5469"/>
            </a:avLst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18688" y="1170432"/>
            <a:ext cx="1243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218688" y="1664208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218688" y="1901952"/>
            <a:ext cx="1243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462272" y="1700784"/>
            <a:ext cx="192024" cy="0"/>
          </a:xfrm>
          <a:prstGeom prst="line">
            <a:avLst/>
          </a:prstGeom>
          <a:noFill/>
          <a:ln w="25400">
            <a:solidFill>
              <a:srgbClr val="00E5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62272" y="1627632"/>
            <a:ext cx="192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E5FF"/>
                </a:solidFill>
              </a:rPr>
              <a:t>→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54296" y="1115568"/>
            <a:ext cx="1243584" cy="1170432"/>
          </a:xfrm>
          <a:prstGeom prst="rect">
            <a:avLst>
              <a:gd name="adj" fmla="val 5469"/>
            </a:avLst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54296" y="1170432"/>
            <a:ext cx="1243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654296" y="1664208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654296" y="1901952"/>
            <a:ext cx="1243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Classes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897880" y="1700784"/>
            <a:ext cx="192024" cy="0"/>
          </a:xfrm>
          <a:prstGeom prst="line">
            <a:avLst/>
          </a:prstGeom>
          <a:noFill/>
          <a:ln w="25400">
            <a:solidFill>
              <a:srgbClr val="00E5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97880" y="1627632"/>
            <a:ext cx="192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E5FF"/>
                </a:solidFill>
              </a:rPr>
              <a:t>→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089904" y="1115568"/>
            <a:ext cx="1243584" cy="1170432"/>
          </a:xfrm>
          <a:prstGeom prst="rect">
            <a:avLst>
              <a:gd name="adj" fmla="val 5469"/>
            </a:avLst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89904" y="1170432"/>
            <a:ext cx="1243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✏️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089904" y="1664208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089904" y="1901952"/>
            <a:ext cx="1243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BBox + HUD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333488" y="1700784"/>
            <a:ext cx="192024" cy="0"/>
          </a:xfrm>
          <a:prstGeom prst="line">
            <a:avLst/>
          </a:prstGeom>
          <a:noFill/>
          <a:ln w="25400">
            <a:solidFill>
              <a:srgbClr val="00E5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33488" y="1627632"/>
            <a:ext cx="192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E5FF"/>
                </a:solidFill>
              </a:rPr>
              <a:t>→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525512" y="1115568"/>
            <a:ext cx="1243584" cy="1170432"/>
          </a:xfrm>
          <a:prstGeom prst="rect">
            <a:avLst>
              <a:gd name="adj" fmla="val 5469"/>
            </a:avLst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25512" y="1170432"/>
            <a:ext cx="1243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📡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7525512" y="1664208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525512" y="1901952"/>
            <a:ext cx="1243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MJPEG /video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365760" y="2487168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Classes &amp; Threat Mapping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2834640"/>
            <a:ext cx="2651760" cy="512064"/>
          </a:xfrm>
          <a:prstGeom prst="rect">
            <a:avLst>
              <a:gd name="adj" fmla="val 8929"/>
            </a:avLst>
          </a:prstGeom>
          <a:solidFill>
            <a:srgbClr val="0D2137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834640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person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2057400" y="2962656"/>
            <a:ext cx="1463040" cy="256032"/>
          </a:xfrm>
          <a:prstGeom prst="rect">
            <a:avLst>
              <a:gd name="adj" fmla="val 21429"/>
            </a:avLst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057400" y="29626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00400" y="2834640"/>
            <a:ext cx="2651760" cy="512064"/>
          </a:xfrm>
          <a:prstGeom prst="rect">
            <a:avLst>
              <a:gd name="adj" fmla="val 8929"/>
            </a:avLst>
          </a:prstGeom>
          <a:solidFill>
            <a:srgbClr val="0D2137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91840" y="2834640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🚛 truck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892040" y="2962656"/>
            <a:ext cx="1463040" cy="256032"/>
          </a:xfrm>
          <a:prstGeom prst="rect">
            <a:avLst>
              <a:gd name="adj" fmla="val 21429"/>
            </a:avLst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92040" y="29626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035040" y="2834640"/>
            <a:ext cx="2651760" cy="512064"/>
          </a:xfrm>
          <a:prstGeom prst="rect">
            <a:avLst>
              <a:gd name="adj" fmla="val 8929"/>
            </a:avLst>
          </a:prstGeom>
          <a:solidFill>
            <a:srgbClr val="0D2137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26480" y="2834640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🚗 car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7726680" y="2962656"/>
            <a:ext cx="1463040" cy="256032"/>
          </a:xfrm>
          <a:prstGeom prst="rect">
            <a:avLst>
              <a:gd name="adj" fmla="val 21429"/>
            </a:avLst>
          </a:prstGeom>
          <a:solidFill>
            <a:srgbClr val="FF6D00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26680" y="29626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MEDIUM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65760" y="3438144"/>
            <a:ext cx="2651760" cy="512064"/>
          </a:xfrm>
          <a:prstGeom prst="rect">
            <a:avLst>
              <a:gd name="adj" fmla="val 8929"/>
            </a:avLst>
          </a:prstGeom>
          <a:solidFill>
            <a:srgbClr val="0D2137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200" y="3438144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🏍️ motorcycle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057400" y="3566160"/>
            <a:ext cx="1463040" cy="256032"/>
          </a:xfrm>
          <a:prstGeom prst="rect">
            <a:avLst>
              <a:gd name="adj" fmla="val 21429"/>
            </a:avLst>
          </a:prstGeom>
          <a:solidFill>
            <a:srgbClr val="FF6D00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057400" y="356616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MEDIUM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200400" y="3438144"/>
            <a:ext cx="2651760" cy="512064"/>
          </a:xfrm>
          <a:prstGeom prst="rect">
            <a:avLst>
              <a:gd name="adj" fmla="val 8929"/>
            </a:avLst>
          </a:prstGeom>
          <a:solidFill>
            <a:srgbClr val="0D2137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291840" y="3438144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🚌 bus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892040" y="3566160"/>
            <a:ext cx="1463040" cy="256032"/>
          </a:xfrm>
          <a:prstGeom prst="rect">
            <a:avLst>
              <a:gd name="adj" fmla="val 21429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892040" y="356616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035040" y="3438144"/>
            <a:ext cx="2651760" cy="512064"/>
          </a:xfrm>
          <a:prstGeom prst="rect">
            <a:avLst>
              <a:gd name="adj" fmla="val 8929"/>
            </a:avLst>
          </a:prstGeom>
          <a:solidFill>
            <a:srgbClr val="0D2137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26480" y="3438144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🚲 bicycle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7726680" y="3566160"/>
            <a:ext cx="1463040" cy="256032"/>
          </a:xfrm>
          <a:prstGeom prst="rect">
            <a:avLst>
              <a:gd name="adj" fmla="val 21429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726680" y="356616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365760" y="4480560"/>
            <a:ext cx="8412480" cy="347472"/>
          </a:xfrm>
          <a:prstGeom prst="rect">
            <a:avLst/>
          </a:prstGeom>
          <a:solidFill>
            <a:srgbClr val="0D2137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0292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⚙️  Confidence threshold: 0.35  |  Model: yolov8n.pt (6.3 MB)  |  mAP50: 37.3% (COCO val)  |  GPU: 33–40 FPS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14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900684" cy="201168"/>
          </a:xfrm>
          <a:prstGeom prst="rect">
            <a:avLst>
              <a:gd name="adj" fmla="val 18182"/>
            </a:avLst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8275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Command &amp; Control Dashboard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15568"/>
            <a:ext cx="1298448" cy="566928"/>
          </a:xfrm>
          <a:prstGeom prst="rect">
            <a:avLst>
              <a:gd name="adj" fmla="val 8065"/>
            </a:avLst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152144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D3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" y="1426464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DETECTIONS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1773936" y="1115568"/>
            <a:ext cx="1298448" cy="566928"/>
          </a:xfrm>
          <a:prstGeom prst="rect">
            <a:avLst>
              <a:gd name="adj" fmla="val 8065"/>
            </a:avLst>
          </a:prstGeom>
          <a:solidFill>
            <a:srgbClr val="0D2137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73936" y="1152144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1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73936" y="1426464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THREATS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182112" y="1115568"/>
            <a:ext cx="1298448" cy="566928"/>
          </a:xfrm>
          <a:prstGeom prst="rect">
            <a:avLst>
              <a:gd name="adj" fmla="val 8065"/>
            </a:avLst>
          </a:prstGeom>
          <a:solidFill>
            <a:srgbClr val="0D2137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82112" y="1152144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47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182112" y="1426464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LOGGED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4590288" y="1115568"/>
            <a:ext cx="1298448" cy="566928"/>
          </a:xfrm>
          <a:prstGeom prst="rect">
            <a:avLst>
              <a:gd name="adj" fmla="val 8065"/>
            </a:avLst>
          </a:prstGeom>
          <a:solidFill>
            <a:srgbClr val="0D2137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90288" y="1152144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90288" y="1426464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FPS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5998464" y="1115568"/>
            <a:ext cx="1298448" cy="566928"/>
          </a:xfrm>
          <a:prstGeom prst="rect">
            <a:avLst>
              <a:gd name="adj" fmla="val 8065"/>
            </a:avLst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98464" y="1152144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D3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98.4%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998464" y="1426464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7406640" y="1115568"/>
            <a:ext cx="1298448" cy="566928"/>
          </a:xfrm>
          <a:prstGeom prst="rect">
            <a:avLst>
              <a:gd name="adj" fmla="val 8065"/>
            </a:avLst>
          </a:prstGeom>
          <a:solidFill>
            <a:srgbClr val="0D2137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06640" y="1152144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67°C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06640" y="1426464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TEMP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365760" y="1792224"/>
            <a:ext cx="1828800" cy="1554480"/>
          </a:xfrm>
          <a:prstGeom prst="rect">
            <a:avLst>
              <a:gd name="adj" fmla="val 3529"/>
            </a:avLst>
          </a:prstGeom>
          <a:solidFill>
            <a:srgbClr val="0D2137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18288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📡 RADAR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87552" y="2414016"/>
            <a:ext cx="585216" cy="585216"/>
          </a:xfrm>
          <a:prstGeom prst="oval">
            <a:avLst/>
          </a:prstGeom>
          <a:solidFill>
            <a:srgbClr val="0A1628">
              <a:alpha val="0"/>
            </a:srgbClr>
          </a:solidFill>
          <a:ln w="12700">
            <a:solidFill>
              <a:srgbClr val="00E5FF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2203704"/>
            <a:ext cx="1005840" cy="1005840"/>
          </a:xfrm>
          <a:prstGeom prst="oval">
            <a:avLst/>
          </a:prstGeom>
          <a:solidFill>
            <a:srgbClr val="0A1628">
              <a:alpha val="0"/>
            </a:srgbClr>
          </a:solidFill>
          <a:ln w="12700">
            <a:solidFill>
              <a:srgbClr val="00E5FF">
                <a:alpha val="28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2066544"/>
            <a:ext cx="1280160" cy="1280160"/>
          </a:xfrm>
          <a:prstGeom prst="oval">
            <a:avLst/>
          </a:prstGeom>
          <a:solidFill>
            <a:srgbClr val="0A1628">
              <a:alpha val="0"/>
            </a:srgbClr>
          </a:solidFill>
          <a:ln w="12700">
            <a:solidFill>
              <a:srgbClr val="25D366">
                <a:alpha val="2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36192" y="2359152"/>
            <a:ext cx="91440" cy="91440"/>
          </a:xfrm>
          <a:prstGeom prst="oval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32688" y="2834640"/>
            <a:ext cx="91440" cy="91440"/>
          </a:xfrm>
          <a:prstGeom prst="oval">
            <a:avLst/>
          </a:prstGeom>
          <a:solidFill>
            <a:srgbClr val="FF6D00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3419856"/>
            <a:ext cx="1828800" cy="1408176"/>
          </a:xfrm>
          <a:prstGeom prst="rect">
            <a:avLst>
              <a:gd name="adj" fmla="val 3896"/>
            </a:avLst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3456432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📊 TELEMETRY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3730752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BATTERY: 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371600" y="373075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87%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398678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ALTITUDE: 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371600" y="3986784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132m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424281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SPEED: 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371600" y="4242816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26.4 m/s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49884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SIGNAL: 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371600" y="449884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94%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322576" y="1792224"/>
            <a:ext cx="4389120" cy="3035808"/>
          </a:xfrm>
          <a:prstGeom prst="rect">
            <a:avLst>
              <a:gd name="adj" fmla="val 1807"/>
            </a:avLst>
          </a:prstGeom>
          <a:solidFill>
            <a:srgbClr val="000000"/>
          </a:solidFill>
          <a:ln w="19050">
            <a:solidFill>
              <a:srgbClr val="00E5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377440" y="1828800"/>
            <a:ext cx="42793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📷 LIVE FEED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322576" y="2084832"/>
            <a:ext cx="4389120" cy="2615184"/>
          </a:xfrm>
          <a:prstGeom prst="rect">
            <a:avLst/>
          </a:prstGeom>
          <a:solidFill>
            <a:srgbClr val="050E1A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291840" y="2377440"/>
            <a:ext cx="822960" cy="1280160"/>
          </a:xfrm>
          <a:prstGeom prst="rect">
            <a:avLst/>
          </a:prstGeom>
          <a:solidFill>
            <a:srgbClr val="FF1744">
              <a:alpha val="10000"/>
            </a:srgbClr>
          </a:solidFill>
          <a:ln w="25400">
            <a:solidFill>
              <a:srgbClr val="FF174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291840" y="2377440"/>
            <a:ext cx="1005840" cy="201168"/>
          </a:xfrm>
          <a:prstGeom prst="rect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10128" y="2395728"/>
            <a:ext cx="96926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PERSON  94%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120640" y="3108960"/>
            <a:ext cx="640080" cy="320040"/>
          </a:xfrm>
          <a:prstGeom prst="oval">
            <a:avLst/>
          </a:prstGeom>
          <a:solidFill>
            <a:srgbClr val="FF6D00">
              <a:alpha val="15000"/>
            </a:srgbClr>
          </a:solidFill>
          <a:ln w="25400">
            <a:solidFill>
              <a:srgbClr val="FF6D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84064" y="3017520"/>
            <a:ext cx="71323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6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  76%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2423160" y="4572000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REC  31 FPS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6858000" y="1792224"/>
            <a:ext cx="2011680" cy="3035808"/>
          </a:xfrm>
          <a:prstGeom prst="rect">
            <a:avLst>
              <a:gd name="adj" fmla="val 2727"/>
            </a:avLst>
          </a:prstGeom>
          <a:solidFill>
            <a:srgbClr val="0D2137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58000" y="1828800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🚨 ALERTS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931152" y="2103120"/>
            <a:ext cx="1865376" cy="640080"/>
          </a:xfrm>
          <a:prstGeom prst="rect">
            <a:avLst>
              <a:gd name="adj" fmla="val 5714"/>
            </a:avLst>
          </a:prstGeom>
          <a:solidFill>
            <a:srgbClr val="0B1526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986016" y="2139696"/>
            <a:ext cx="17556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⚠ HIGH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986016" y="2340864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— conf 94%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986016" y="2523744"/>
            <a:ext cx="1755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12.9716°N  77.5946°E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6931152" y="2852928"/>
            <a:ext cx="1865376" cy="640080"/>
          </a:xfrm>
          <a:prstGeom prst="rect">
            <a:avLst>
              <a:gd name="adj" fmla="val 5714"/>
            </a:avLst>
          </a:prstGeom>
          <a:solidFill>
            <a:srgbClr val="0B1526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986016" y="2889504"/>
            <a:ext cx="17556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6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⚠ MED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6986016" y="3090672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— conf 76%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6986016" y="3273552"/>
            <a:ext cx="1755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12.9716°N  77.5946°E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6931152" y="3602736"/>
            <a:ext cx="1865376" cy="640080"/>
          </a:xfrm>
          <a:prstGeom prst="rect">
            <a:avLst>
              <a:gd name="adj" fmla="val 5714"/>
            </a:avLst>
          </a:prstGeom>
          <a:solidFill>
            <a:srgbClr val="0B1526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86016" y="3639312"/>
            <a:ext cx="17556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⚠ LOW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6986016" y="3840480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 — conf 61%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6986016" y="4023360"/>
            <a:ext cx="1755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12.9716°N  77.5946°E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14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1211580" cy="201168"/>
          </a:xfrm>
          <a:prstGeom prst="rect">
            <a:avLst>
              <a:gd name="adj" fmla="val 18182"/>
            </a:avLst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11384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 ALERTS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Real-Time Threat Alert System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88720"/>
            <a:ext cx="8412480" cy="1042416"/>
          </a:xfrm>
          <a:prstGeom prst="rect">
            <a:avLst>
              <a:gd name="adj" fmla="val 6140"/>
            </a:avLst>
          </a:prstGeom>
          <a:solidFill>
            <a:srgbClr val="0D2137"/>
          </a:solidFill>
          <a:ln w="25400">
            <a:solidFill>
              <a:srgbClr val="FF17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188720"/>
            <a:ext cx="64008" cy="1042416"/>
          </a:xfrm>
          <a:prstGeom prst="rect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353312"/>
            <a:ext cx="1170432" cy="274320"/>
          </a:xfrm>
          <a:prstGeom prst="rect">
            <a:avLst>
              <a:gd name="adj" fmla="val 16667"/>
            </a:avLst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35331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🔴  HIGH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74520" y="1298448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1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TARGETS: person, truck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74520" y="1572768"/>
            <a:ext cx="6675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siren + red pulsing glow. Immediate operator attention required.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0" y="1536192"/>
            <a:ext cx="1645920" cy="109728"/>
          </a:xfrm>
          <a:prstGeom prst="rect">
            <a:avLst/>
          </a:prstGeom>
          <a:solidFill>
            <a:srgbClr val="0B1526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0" y="1536192"/>
            <a:ext cx="1547165" cy="109728"/>
          </a:xfrm>
          <a:prstGeom prst="rect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0" y="1682496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94% conf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2395728"/>
            <a:ext cx="8412480" cy="1042416"/>
          </a:xfrm>
          <a:prstGeom prst="rect">
            <a:avLst>
              <a:gd name="adj" fmla="val 6140"/>
            </a:avLst>
          </a:prstGeom>
          <a:solidFill>
            <a:srgbClr val="0D2137"/>
          </a:solidFill>
          <a:ln w="25400">
            <a:solidFill>
              <a:srgbClr val="FF6D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395728"/>
            <a:ext cx="64008" cy="1042416"/>
          </a:xfrm>
          <a:prstGeom prst="rect">
            <a:avLst/>
          </a:prstGeom>
          <a:solidFill>
            <a:srgbClr val="FF6D00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2560320"/>
            <a:ext cx="1170432" cy="274320"/>
          </a:xfrm>
          <a:prstGeom prst="rect">
            <a:avLst>
              <a:gd name="adj" fmla="val 16667"/>
            </a:avLst>
          </a:prstGeom>
          <a:solidFill>
            <a:srgbClr val="FF6D00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25603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🟠  MEDIUM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74520" y="2505456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TARGETS: car, motorcycle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874520" y="2779776"/>
            <a:ext cx="6675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alert card. Elevated monitoring. No audio siren.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858000" y="2743200"/>
            <a:ext cx="1645920" cy="109728"/>
          </a:xfrm>
          <a:prstGeom prst="rect">
            <a:avLst/>
          </a:prstGeom>
          <a:solidFill>
            <a:srgbClr val="0B1526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0" y="2743200"/>
            <a:ext cx="1250899" cy="109728"/>
          </a:xfrm>
          <a:prstGeom prst="rect">
            <a:avLst/>
          </a:prstGeom>
          <a:solidFill>
            <a:srgbClr val="FF6D00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0" y="2889504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76% conf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3602736"/>
            <a:ext cx="8412480" cy="1042416"/>
          </a:xfrm>
          <a:prstGeom prst="rect">
            <a:avLst>
              <a:gd name="adj" fmla="val 6140"/>
            </a:avLst>
          </a:prstGeom>
          <a:solidFill>
            <a:srgbClr val="0D2137"/>
          </a:solidFill>
          <a:ln w="25400">
            <a:solidFill>
              <a:srgbClr val="00E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3602736"/>
            <a:ext cx="64008" cy="1042416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767328"/>
            <a:ext cx="1170432" cy="274320"/>
          </a:xfrm>
          <a:prstGeom prst="rect">
            <a:avLst>
              <a:gd name="adj" fmla="val 16667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376732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🔵  LOW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874520" y="3712464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TARGETS: bus, bicycle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74520" y="3986784"/>
            <a:ext cx="6675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Cyan info card. Logged to history. No interruption.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858000" y="3950208"/>
            <a:ext cx="1645920" cy="109728"/>
          </a:xfrm>
          <a:prstGeom prst="rect">
            <a:avLst/>
          </a:prstGeom>
          <a:solidFill>
            <a:srgbClr val="0B1526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0" y="3950208"/>
            <a:ext cx="1004011" cy="109728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0" y="4096512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61% conf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65760" y="4663440"/>
            <a:ext cx="8412480" cy="201168"/>
          </a:xfrm>
          <a:prstGeom prst="rect">
            <a:avLst/>
          </a:prstGeom>
          <a:solidFill>
            <a:srgbClr val="050E1A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2920" y="4681728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📋  Alert payload: { type, confidence, threat_level, timestamp, lat, lon, message }  |  Audio: Web Audio API sawtooth oscillator sweep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14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1056132" cy="201168"/>
          </a:xfrm>
          <a:prstGeom prst="rect">
            <a:avLst>
              <a:gd name="adj" fmla="val 18182"/>
            </a:avLst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9829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RADAR &amp; MAP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Tactical Radar &amp; Live Map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15568"/>
            <a:ext cx="4023360" cy="3657600"/>
          </a:xfrm>
          <a:prstGeom prst="rect">
            <a:avLst>
              <a:gd name="adj" fmla="val 1750"/>
            </a:avLst>
          </a:prstGeom>
          <a:solidFill>
            <a:srgbClr val="0D2137"/>
          </a:solidFill>
          <a:ln w="12700">
            <a:solidFill>
              <a:srgbClr val="00E5F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41248" y="11887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RADAR SWEEP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052828" y="2510028"/>
            <a:ext cx="649224" cy="649224"/>
          </a:xfrm>
          <a:prstGeom prst="oval">
            <a:avLst/>
          </a:prstGeom>
          <a:solidFill>
            <a:srgbClr val="0A1628">
              <a:alpha val="0"/>
            </a:srgbClr>
          </a:solidFill>
          <a:ln w="12700">
            <a:solidFill>
              <a:srgbClr val="00E5FF">
                <a:alpha val="50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28216" y="2185416"/>
            <a:ext cx="1298448" cy="1298448"/>
          </a:xfrm>
          <a:prstGeom prst="oval">
            <a:avLst/>
          </a:prstGeom>
          <a:solidFill>
            <a:srgbClr val="0A1628">
              <a:alpha val="0"/>
            </a:srgbClr>
          </a:solidFill>
          <a:ln w="12700">
            <a:solidFill>
              <a:srgbClr val="00E5FF">
                <a:alpha val="38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403604" y="1860804"/>
            <a:ext cx="1947672" cy="1947672"/>
          </a:xfrm>
          <a:prstGeom prst="oval">
            <a:avLst/>
          </a:prstGeom>
          <a:solidFill>
            <a:srgbClr val="0A1628">
              <a:alpha val="0"/>
            </a:srgbClr>
          </a:solidFill>
          <a:ln w="12700">
            <a:solidFill>
              <a:srgbClr val="00E5FF">
                <a:alpha val="28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78992" y="1536192"/>
            <a:ext cx="2596896" cy="2596896"/>
          </a:xfrm>
          <a:prstGeom prst="oval">
            <a:avLst/>
          </a:prstGeom>
          <a:solidFill>
            <a:srgbClr val="0A1628">
              <a:alpha val="0"/>
            </a:srgbClr>
          </a:solidFill>
          <a:ln w="12700">
            <a:solidFill>
              <a:srgbClr val="00E5FF">
                <a:alpha val="70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78992" y="2834640"/>
            <a:ext cx="2596896" cy="0"/>
          </a:xfrm>
          <a:prstGeom prst="line">
            <a:avLst/>
          </a:prstGeom>
          <a:noFill/>
          <a:ln w="6350">
            <a:solidFill>
              <a:srgbClr val="00E5FF">
                <a:alpha val="30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377440" y="1536192"/>
            <a:ext cx="0" cy="2596896"/>
          </a:xfrm>
          <a:prstGeom prst="line">
            <a:avLst/>
          </a:prstGeom>
          <a:noFill/>
          <a:ln w="6350">
            <a:solidFill>
              <a:srgbClr val="00E5FF">
                <a:alpha val="30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377440" y="1536192"/>
            <a:ext cx="1298448" cy="1298448"/>
          </a:xfrm>
          <a:prstGeom prst="rect">
            <a:avLst/>
          </a:prstGeom>
          <a:solidFill>
            <a:srgbClr val="00E5FF">
              <a:alpha val="12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770632" y="2130552"/>
            <a:ext cx="128016" cy="128016"/>
          </a:xfrm>
          <a:prstGeom prst="oval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688336" y="2048256"/>
            <a:ext cx="292608" cy="292608"/>
          </a:xfrm>
          <a:prstGeom prst="oval">
            <a:avLst/>
          </a:prstGeom>
          <a:solidFill>
            <a:srgbClr val="FF1744">
              <a:alpha val="20000"/>
            </a:srgbClr>
          </a:solidFill>
          <a:ln w="12700">
            <a:solidFill>
              <a:srgbClr val="FF1744">
                <a:alpha val="5000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581912" y="3227832"/>
            <a:ext cx="128016" cy="128016"/>
          </a:xfrm>
          <a:prstGeom prst="oval">
            <a:avLst/>
          </a:prstGeom>
          <a:solidFill>
            <a:srgbClr val="FF6D00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499616" y="3145536"/>
            <a:ext cx="292608" cy="292608"/>
          </a:xfrm>
          <a:prstGeom prst="oval">
            <a:avLst/>
          </a:prstGeom>
          <a:solidFill>
            <a:srgbClr val="FF6D00">
              <a:alpha val="20000"/>
            </a:srgbClr>
          </a:solidFill>
          <a:ln w="12700">
            <a:solidFill>
              <a:srgbClr val="FF6D00">
                <a:alpha val="50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136392" y="3502152"/>
            <a:ext cx="128016" cy="128016"/>
          </a:xfrm>
          <a:prstGeom prst="oval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054096" y="3419856"/>
            <a:ext cx="292608" cy="292608"/>
          </a:xfrm>
          <a:prstGeom prst="oval">
            <a:avLst/>
          </a:prstGeom>
          <a:solidFill>
            <a:srgbClr val="00E5FF">
              <a:alpha val="20000"/>
            </a:srgbClr>
          </a:solidFill>
          <a:ln w="12700">
            <a:solidFill>
              <a:srgbClr val="00E5FF">
                <a:alpha val="5000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4434840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HIGH  ● MED  ● LOW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49808" y="4462272"/>
            <a:ext cx="91440" cy="91440"/>
          </a:xfrm>
          <a:prstGeom prst="oval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801368" y="4462272"/>
            <a:ext cx="91440" cy="91440"/>
          </a:xfrm>
          <a:prstGeom prst="oval">
            <a:avLst/>
          </a:prstGeom>
          <a:solidFill>
            <a:srgbClr val="FF6D00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852928" y="4462272"/>
            <a:ext cx="91440" cy="91440"/>
          </a:xfrm>
          <a:prstGeom prst="oval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7200" y="46451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Range: 500m  |  30 FPS canvas render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4572000" y="1115568"/>
            <a:ext cx="4251960" cy="3657600"/>
          </a:xfrm>
          <a:prstGeom prst="rect">
            <a:avLst>
              <a:gd name="adj" fmla="val 1750"/>
            </a:avLst>
          </a:prstGeom>
          <a:solidFill>
            <a:srgbClr val="030A14"/>
          </a:solidFill>
          <a:ln w="12700">
            <a:solidFill>
              <a:srgbClr val="25D366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70432"/>
            <a:ext cx="329184" cy="329184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047488" y="11887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TACTICAL MAP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4590288" y="1572768"/>
            <a:ext cx="4206240" cy="0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590288" y="2048256"/>
            <a:ext cx="4206240" cy="0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590288" y="2523744"/>
            <a:ext cx="4206240" cy="0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90288" y="2999232"/>
            <a:ext cx="4206240" cy="0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590288" y="3474720"/>
            <a:ext cx="4206240" cy="0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590288" y="3950208"/>
            <a:ext cx="4206240" cy="0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90288" y="4425696"/>
            <a:ext cx="4206240" cy="0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590288" y="1572768"/>
            <a:ext cx="0" cy="3072384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065776" y="1572768"/>
            <a:ext cx="0" cy="3072384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5541264" y="1572768"/>
            <a:ext cx="0" cy="3072384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6016752" y="1572768"/>
            <a:ext cx="0" cy="3072384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6492240" y="1572768"/>
            <a:ext cx="0" cy="3072384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967728" y="1572768"/>
            <a:ext cx="0" cy="3072384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7443216" y="1572768"/>
            <a:ext cx="0" cy="3072384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918704" y="1572768"/>
            <a:ext cx="0" cy="3072384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8394192" y="1572768"/>
            <a:ext cx="0" cy="3072384"/>
          </a:xfrm>
          <a:prstGeom prst="line">
            <a:avLst/>
          </a:prstGeom>
          <a:noFill/>
          <a:ln w="9525">
            <a:solidFill>
              <a:srgbClr val="0E2233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492240" y="2889504"/>
            <a:ext cx="402336" cy="402336"/>
          </a:xfrm>
          <a:prstGeom prst="oval">
            <a:avLst/>
          </a:prstGeom>
          <a:solidFill>
            <a:srgbClr val="00E5FF">
              <a:alpha val="25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6601968" y="2999232"/>
            <a:ext cx="182880" cy="182880"/>
          </a:xfrm>
          <a:prstGeom prst="oval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6821424" y="2999232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🛸 DRONE-ALPHA</a:t>
            </a:r>
            <a:endParaRPr lang="en-US" sz="750" dirty="0"/>
          </a:p>
        </p:txBody>
      </p:sp>
      <p:sp>
        <p:nvSpPr>
          <p:cNvPr id="51" name="Shape 47"/>
          <p:cNvSpPr/>
          <p:nvPr/>
        </p:nvSpPr>
        <p:spPr>
          <a:xfrm rot="2700000">
            <a:off x="5669280" y="2194560"/>
            <a:ext cx="182880" cy="182880"/>
          </a:xfrm>
          <a:prstGeom prst="rect">
            <a:avLst/>
          </a:prstGeom>
          <a:solidFill>
            <a:srgbClr val="FF1744"/>
          </a:solidFill>
          <a:ln w="12700">
            <a:solidFill>
              <a:srgbClr val="FF1744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 rot="2700000">
            <a:off x="7406640" y="3657600"/>
            <a:ext cx="182880" cy="182880"/>
          </a:xfrm>
          <a:prstGeom prst="rect">
            <a:avLst/>
          </a:prstGeom>
          <a:solidFill>
            <a:srgbClr val="FF6D00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4663440" y="4553712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12.9716°N  77.5946°E</a:t>
            </a:r>
            <a:endParaRPr lang="en-US" sz="800" dirty="0"/>
          </a:p>
        </p:txBody>
      </p:sp>
      <p:sp>
        <p:nvSpPr>
          <p:cNvPr id="54" name="Text 50"/>
          <p:cNvSpPr/>
          <p:nvPr/>
        </p:nvSpPr>
        <p:spPr>
          <a:xfrm>
            <a:off x="4663440" y="4718304"/>
            <a:ext cx="40233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tiles  |  Dark cyberpunk CSS filter  |  Real-time GPS update</a:t>
            </a:r>
            <a:endParaRPr lang="en-US" sz="750" dirty="0"/>
          </a:p>
        </p:txBody>
      </p:sp>
      <p:sp>
        <p:nvSpPr>
          <p:cNvPr id="55" name="Text 51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14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978408" cy="201168"/>
          </a:xfrm>
          <a:prstGeom prst="rect">
            <a:avLst>
              <a:gd name="adj" fmla="val 18182"/>
            </a:avLst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9052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 STACK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Full-Stack Technology Deep Dive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70432"/>
            <a:ext cx="2670048" cy="1719072"/>
          </a:xfrm>
          <a:prstGeom prst="rect">
            <a:avLst>
              <a:gd name="adj" fmla="val 3723"/>
            </a:avLst>
          </a:prstGeom>
          <a:solidFill>
            <a:srgbClr val="0D2137"/>
          </a:solidFill>
          <a:ln w="19050">
            <a:solidFill>
              <a:srgbClr val="25D3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170432"/>
            <a:ext cx="2670048" cy="310896"/>
          </a:xfrm>
          <a:prstGeom prst="rect">
            <a:avLst/>
          </a:prstGeom>
          <a:solidFill>
            <a:srgbClr val="25D366">
              <a:alpha val="80000"/>
            </a:srgbClr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207008"/>
            <a:ext cx="2487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🛸 DRONE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" y="1572768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Raspberry Pi 4B (4 GB)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5488" y="1883664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Pi Camera Module v2 – 8MP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75488" y="2194560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picamera2 – camera API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5488" y="2505456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Flask – MJPEG server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18688" y="1170432"/>
            <a:ext cx="2670048" cy="1719072"/>
          </a:xfrm>
          <a:prstGeom prst="rect">
            <a:avLst>
              <a:gd name="adj" fmla="val 3723"/>
            </a:avLst>
          </a:prstGeom>
          <a:solidFill>
            <a:srgbClr val="0D2137"/>
          </a:solidFill>
          <a:ln w="19050">
            <a:solidFill>
              <a:srgbClr val="00E5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18688" y="1170432"/>
            <a:ext cx="2670048" cy="310896"/>
          </a:xfrm>
          <a:prstGeom prst="rect">
            <a:avLst/>
          </a:prstGeom>
          <a:solidFill>
            <a:srgbClr val="00E5FF">
              <a:alpha val="8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0128" y="1207008"/>
            <a:ext cx="2487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BACKEND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28416" y="1572768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FastAPI v0.111 – async REST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328416" y="1883664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Uvicorn – ASGI server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328416" y="2194560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YOLOv8n – Ultralytics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28416" y="2505456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OpenCV 4.9 – frame I/O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71616" y="1170432"/>
            <a:ext cx="2670048" cy="1719072"/>
          </a:xfrm>
          <a:prstGeom prst="rect">
            <a:avLst>
              <a:gd name="adj" fmla="val 3723"/>
            </a:avLst>
          </a:prstGeom>
          <a:solidFill>
            <a:srgbClr val="0D2137"/>
          </a:solidFill>
          <a:ln w="19050">
            <a:solidFill>
              <a:srgbClr val="FF6D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1616" y="1170432"/>
            <a:ext cx="2670048" cy="310896"/>
          </a:xfrm>
          <a:prstGeom prst="rect">
            <a:avLst/>
          </a:prstGeom>
          <a:solidFill>
            <a:srgbClr val="FF6D00">
              <a:alpha val="80000"/>
            </a:srgbClr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63056" y="1207008"/>
            <a:ext cx="2487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 FRONTEND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81344" y="1572768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React 18 + Vite 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181344" y="1883664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Tailwind CSS v3.4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181344" y="2194560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Framer Motion v11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81344" y="2505456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Lucide React icons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5760" y="3072384"/>
            <a:ext cx="2670048" cy="1719072"/>
          </a:xfrm>
          <a:prstGeom prst="rect">
            <a:avLst>
              <a:gd name="adj" fmla="val 3723"/>
            </a:avLst>
          </a:prstGeom>
          <a:solidFill>
            <a:srgbClr val="0D2137"/>
          </a:solidFill>
          <a:ln w="19050">
            <a:solidFill>
              <a:srgbClr val="25D3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72384"/>
            <a:ext cx="2670048" cy="310896"/>
          </a:xfrm>
          <a:prstGeom prst="rect">
            <a:avLst/>
          </a:prstGeom>
          <a:solidFill>
            <a:srgbClr val="25D366">
              <a:alpha val="80000"/>
            </a:srgbClr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3108960"/>
            <a:ext cx="2487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🗺️ MAPPING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75488" y="3474720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Leaflet.js v1.9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5488" y="3785616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react-leaflet v4.2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75488" y="4096512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OpenStreetMap tiles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75488" y="4407408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CSS dark cyberpunk filter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218688" y="3072384"/>
            <a:ext cx="2670048" cy="1719072"/>
          </a:xfrm>
          <a:prstGeom prst="rect">
            <a:avLst>
              <a:gd name="adj" fmla="val 3723"/>
            </a:avLst>
          </a:prstGeom>
          <a:solidFill>
            <a:srgbClr val="0D2137"/>
          </a:solidFill>
          <a:ln w="19050">
            <a:solidFill>
              <a:srgbClr val="00E5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18688" y="3072384"/>
            <a:ext cx="2670048" cy="310896"/>
          </a:xfrm>
          <a:prstGeom prst="rect">
            <a:avLst/>
          </a:prstGeom>
          <a:solidFill>
            <a:srgbClr val="00E5FF">
              <a:alpha val="8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10128" y="3108960"/>
            <a:ext cx="2487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🎨 DESIGN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328416" y="3474720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Orbitron – display font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328416" y="3785616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Share Tech Mono – HUD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328416" y="4096512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Glassmorphism panels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328416" y="4407408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Animated boot sequence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071616" y="3072384"/>
            <a:ext cx="2670048" cy="1719072"/>
          </a:xfrm>
          <a:prstGeom prst="rect">
            <a:avLst>
              <a:gd name="adj" fmla="val 3723"/>
            </a:avLst>
          </a:prstGeom>
          <a:solidFill>
            <a:srgbClr val="0D2137"/>
          </a:solidFill>
          <a:ln w="19050">
            <a:solidFill>
              <a:srgbClr val="FF6D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071616" y="3072384"/>
            <a:ext cx="2670048" cy="310896"/>
          </a:xfrm>
          <a:prstGeom prst="rect">
            <a:avLst/>
          </a:prstGeom>
          <a:solidFill>
            <a:srgbClr val="FF6D00">
              <a:alpha val="80000"/>
            </a:srgbClr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63056" y="3108960"/>
            <a:ext cx="2487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🔊 UX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181344" y="3474720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Web Audio API siren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181344" y="3785616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Canvas radar 30 FPS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181344" y="4096512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MJPEG stream viewer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181344" y="4407408"/>
            <a:ext cx="2450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Framer Motion animations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14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1056132" cy="201168"/>
          </a:xfrm>
          <a:prstGeom prst="rect">
            <a:avLst>
              <a:gd name="adj" fmla="val 18182"/>
            </a:avLst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9829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Benchmarks &amp; Metrics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70432"/>
            <a:ext cx="1956816" cy="1207008"/>
          </a:xfrm>
          <a:prstGeom prst="rect">
            <a:avLst>
              <a:gd name="adj" fmla="val 6061"/>
            </a:avLst>
          </a:prstGeom>
          <a:solidFill>
            <a:srgbClr val="0D2137"/>
          </a:solidFill>
          <a:ln w="25400">
            <a:solidFill>
              <a:srgbClr val="25D3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225296"/>
            <a:ext cx="195681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D3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33 FPS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65760" y="1847088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Inference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(RTX 3060)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05456" y="1170432"/>
            <a:ext cx="1956816" cy="1207008"/>
          </a:xfrm>
          <a:prstGeom prst="rect">
            <a:avLst>
              <a:gd name="adj" fmla="val 6061"/>
            </a:avLst>
          </a:prstGeom>
          <a:solidFill>
            <a:srgbClr val="0D2137"/>
          </a:solidFill>
          <a:ln w="25400">
            <a:solidFill>
              <a:srgbClr val="00E5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05456" y="1225296"/>
            <a:ext cx="195681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 50ms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505456" y="1847088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45152" y="1170432"/>
            <a:ext cx="1956816" cy="1207008"/>
          </a:xfrm>
          <a:prstGeom prst="rect">
            <a:avLst>
              <a:gd name="adj" fmla="val 6061"/>
            </a:avLst>
          </a:prstGeom>
          <a:solidFill>
            <a:srgbClr val="0D2137"/>
          </a:solidFill>
          <a:ln w="25400">
            <a:solidFill>
              <a:srgbClr val="FF6D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45152" y="1225296"/>
            <a:ext cx="195681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6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8–12 FPS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645152" y="1847088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Inference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(i7 11th Gen)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784848" y="1170432"/>
            <a:ext cx="1956816" cy="1207008"/>
          </a:xfrm>
          <a:prstGeom prst="rect">
            <a:avLst>
              <a:gd name="adj" fmla="val 6061"/>
            </a:avLst>
          </a:prstGeom>
          <a:solidFill>
            <a:srgbClr val="0D2137"/>
          </a:solidFill>
          <a:ln w="25400">
            <a:solidFill>
              <a:srgbClr val="25D3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84848" y="1225296"/>
            <a:ext cx="195681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D3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6.3 MB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784848" y="1847088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257860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Performance Breakdown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2926080"/>
            <a:ext cx="8412480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29626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Camera stream FPS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749040" y="2962656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FPS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86400" y="29626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by JPEG encoding on Pi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00400"/>
            <a:ext cx="8412480" cy="256032"/>
          </a:xfrm>
          <a:prstGeom prst="rect">
            <a:avLst/>
          </a:prstGeom>
          <a:solidFill>
            <a:srgbClr val="0B1526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23697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JPEG quality / bandwidth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749040" y="3236976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/ 4.2 MB/s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86400" y="323697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of quality vs latency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474720"/>
            <a:ext cx="8412480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351129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confidence threshold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49040" y="3511296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0" y="351129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Optimised for surveillance recall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65760" y="3749040"/>
            <a:ext cx="8412480" cy="256032"/>
          </a:xfrm>
          <a:prstGeom prst="rect">
            <a:avLst/>
          </a:prstGeom>
          <a:solidFill>
            <a:srgbClr val="0B1526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378561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 on COCO validation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49040" y="3785616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37.3%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486400" y="378561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 yolov8n.pt weights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65760" y="4023360"/>
            <a:ext cx="8412480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2920" y="405993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generation latency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749040" y="4059936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100 ms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486400" y="405993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to alert card display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5760" y="4297680"/>
            <a:ext cx="8412480" cy="256032"/>
          </a:xfrm>
          <a:prstGeom prst="rect">
            <a:avLst/>
          </a:prstGeom>
          <a:solidFill>
            <a:srgbClr val="0B1526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2920" y="43342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GPS update interval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749040" y="4334256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seconds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486400" y="43342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API polling period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65760" y="4572000"/>
            <a:ext cx="8412480" cy="25603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2920" y="460857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history buffer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749040" y="4608576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events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486400" y="460857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in-memory store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65760" y="2907792"/>
            <a:ext cx="8412480" cy="0"/>
          </a:xfrm>
          <a:prstGeom prst="rect">
            <a:avLst/>
          </a:prstGeom>
          <a:solidFill>
            <a:srgbClr val="0D2137"/>
          </a:solidFill>
          <a:ln w="6350">
            <a:solidFill>
              <a:srgbClr val="00E5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14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1056132" cy="201168"/>
          </a:xfrm>
          <a:prstGeom prst="rect">
            <a:avLst>
              <a:gd name="adj" fmla="val 18182"/>
            </a:avLst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9829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 &amp; RUN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Get SKYGUARD Running in 3 Steps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261872"/>
            <a:ext cx="502920" cy="502920"/>
          </a:xfrm>
          <a:prstGeom prst="oval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2618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87552" y="129844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D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(Drone)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87552" y="1627632"/>
            <a:ext cx="7790688" cy="676656"/>
          </a:xfrm>
          <a:prstGeom prst="rect">
            <a:avLst>
              <a:gd name="adj" fmla="val 6757"/>
            </a:avLst>
          </a:prstGeom>
          <a:solidFill>
            <a:srgbClr val="060E1A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78992" y="1700784"/>
            <a:ext cx="758952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pip3 install flask picamera2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78992" y="1892808"/>
            <a:ext cx="758952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camera_server.py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78992" y="2084832"/>
            <a:ext cx="758952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Stream at http://&lt;pi-ip&gt;:8001/stream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2523744"/>
            <a:ext cx="502920" cy="502920"/>
          </a:xfrm>
          <a:prstGeom prst="oval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5237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87552" y="256032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(Host PC)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87552" y="2889504"/>
            <a:ext cx="7790688" cy="676656"/>
          </a:xfrm>
          <a:prstGeom prst="rect">
            <a:avLst>
              <a:gd name="adj" fmla="val 6757"/>
            </a:avLst>
          </a:prstGeom>
          <a:solidFill>
            <a:srgbClr val="060E1A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78992" y="2962656"/>
            <a:ext cx="758952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78992" y="3154680"/>
            <a:ext cx="758952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Set PI_STREAM_URL in detector.py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78992" y="3346704"/>
            <a:ext cx="758952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uvicorn main:app --port 8000 --reload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65760" y="3785616"/>
            <a:ext cx="502920" cy="502920"/>
          </a:xfrm>
          <a:prstGeom prst="oval">
            <a:avLst/>
          </a:prstGeom>
          <a:solidFill>
            <a:srgbClr val="FF6D00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7856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7552" y="382219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(Browser)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87552" y="4151376"/>
            <a:ext cx="7790688" cy="676656"/>
          </a:xfrm>
          <a:prstGeom prst="rect">
            <a:avLst>
              <a:gd name="adj" fmla="val 6757"/>
            </a:avLst>
          </a:prstGeom>
          <a:solidFill>
            <a:srgbClr val="060E1A"/>
          </a:solidFill>
          <a:ln w="12700">
            <a:solidFill>
              <a:srgbClr val="FF6D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78992" y="4224528"/>
            <a:ext cx="758952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78992" y="4416552"/>
            <a:ext cx="758952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dev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78992" y="4608576"/>
            <a:ext cx="758952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Open http://localhost:5173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5760" y="4572000"/>
            <a:ext cx="8412480" cy="329184"/>
          </a:xfrm>
          <a:prstGeom prst="rect">
            <a:avLst>
              <a:gd name="adj" fmla="val 13889"/>
            </a:avLst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4626864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F8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📂  GitHub: github.com/your-team/skyguard-ai  |  ⭐  Star the repo  |  🔒 MIT License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14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64592"/>
            <a:ext cx="745236" cy="201168"/>
          </a:xfrm>
          <a:prstGeom prst="rect">
            <a:avLst>
              <a:gd name="adj" fmla="val 18182"/>
            </a:avLst>
          </a:prstGeom>
          <a:solidFill>
            <a:srgbClr val="FFD600"/>
          </a:solidFill>
          <a:ln w="12700">
            <a:solidFill>
              <a:srgbClr val="FFD6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69164"/>
            <a:ext cx="6720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ROADMAP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What's Next for SKYGUARD AI?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024128"/>
            <a:ext cx="8412480" cy="0"/>
          </a:xfrm>
          <a:prstGeom prst="line">
            <a:avLst/>
          </a:prstGeom>
          <a:noFill/>
          <a:ln w="6350">
            <a:solidFill>
              <a:srgbClr val="00E5FF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70432"/>
            <a:ext cx="2697480" cy="3566160"/>
          </a:xfrm>
          <a:prstGeom prst="rect">
            <a:avLst>
              <a:gd name="adj" fmla="val 2712"/>
            </a:avLst>
          </a:prstGeom>
          <a:solidFill>
            <a:srgbClr val="0D2137"/>
          </a:solidFill>
          <a:ln w="25400">
            <a:solidFill>
              <a:srgbClr val="25D3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170432"/>
            <a:ext cx="2697480" cy="640080"/>
          </a:xfrm>
          <a:prstGeom prst="rect">
            <a:avLst/>
          </a:prstGeom>
          <a:solidFill>
            <a:srgbClr val="25D366">
              <a:alpha val="85000"/>
            </a:srgbClr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207008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🔧  PHASE 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149961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0–3 Months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" y="1901952"/>
            <a:ext cx="2487168" cy="548640"/>
          </a:xfrm>
          <a:prstGeom prst="rect">
            <a:avLst>
              <a:gd name="adj" fmla="val 6667"/>
            </a:avLst>
          </a:prstGeom>
          <a:solidFill>
            <a:srgbClr val="0B1526"/>
          </a:solidFill>
          <a:ln w="6350">
            <a:solidFill>
              <a:srgbClr val="25D366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1956816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YOLO fine-tune on aerial dataset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5488" y="2560320"/>
            <a:ext cx="2487168" cy="548640"/>
          </a:xfrm>
          <a:prstGeom prst="rect">
            <a:avLst>
              <a:gd name="adj" fmla="val 6667"/>
            </a:avLst>
          </a:prstGeom>
          <a:solidFill>
            <a:srgbClr val="0B1526"/>
          </a:solidFill>
          <a:ln w="6350">
            <a:solidFill>
              <a:srgbClr val="25D366">
                <a:alpha val="5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615184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WebSocket real-time events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" y="3218688"/>
            <a:ext cx="2487168" cy="548640"/>
          </a:xfrm>
          <a:prstGeom prst="rect">
            <a:avLst>
              <a:gd name="adj" fmla="val 6667"/>
            </a:avLst>
          </a:prstGeom>
          <a:solidFill>
            <a:srgbClr val="0B1526"/>
          </a:solidFill>
          <a:ln w="6350">
            <a:solidFill>
              <a:srgbClr val="25D366">
                <a:alpha val="5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2735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Multi-drone feed switching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" y="3877056"/>
            <a:ext cx="2487168" cy="548640"/>
          </a:xfrm>
          <a:prstGeom prst="rect">
            <a:avLst>
              <a:gd name="adj" fmla="val 6667"/>
            </a:avLst>
          </a:prstGeom>
          <a:solidFill>
            <a:srgbClr val="0B1526"/>
          </a:solidFill>
          <a:ln w="6350">
            <a:solidFill>
              <a:srgbClr val="25D366">
                <a:alpha val="5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93192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ONNX / TFLite Pi 5 inference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46120" y="1170432"/>
            <a:ext cx="2697480" cy="3566160"/>
          </a:xfrm>
          <a:prstGeom prst="rect">
            <a:avLst>
              <a:gd name="adj" fmla="val 2712"/>
            </a:avLst>
          </a:prstGeom>
          <a:solidFill>
            <a:srgbClr val="0D2137"/>
          </a:solidFill>
          <a:ln w="25400">
            <a:solidFill>
              <a:srgbClr val="00E5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1170432"/>
            <a:ext cx="2697480" cy="640080"/>
          </a:xfrm>
          <a:prstGeom prst="rect">
            <a:avLst/>
          </a:prstGeom>
          <a:solidFill>
            <a:srgbClr val="00E5FF">
              <a:alpha val="85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1207008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🚀  PHASE 2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337560" y="149961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3–6 Months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355848" y="1901952"/>
            <a:ext cx="2487168" cy="548640"/>
          </a:xfrm>
          <a:prstGeom prst="rect">
            <a:avLst>
              <a:gd name="adj" fmla="val 6667"/>
            </a:avLst>
          </a:prstGeom>
          <a:solidFill>
            <a:srgbClr val="0B1526"/>
          </a:solidFill>
          <a:ln w="6350">
            <a:solidFill>
              <a:srgbClr val="00E5FF">
                <a:alpha val="5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47288" y="1956816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MAVLink autopilot integration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355848" y="2560320"/>
            <a:ext cx="2487168" cy="548640"/>
          </a:xfrm>
          <a:prstGeom prst="rect">
            <a:avLst>
              <a:gd name="adj" fmla="val 6667"/>
            </a:avLst>
          </a:prstGeom>
          <a:solidFill>
            <a:srgbClr val="0B1526"/>
          </a:solidFill>
          <a:ln w="6350">
            <a:solidFill>
              <a:srgbClr val="00E5FF">
                <a:alpha val="5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47288" y="2615184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IR night vision camera module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355848" y="3218688"/>
            <a:ext cx="2487168" cy="548640"/>
          </a:xfrm>
          <a:prstGeom prst="rect">
            <a:avLst>
              <a:gd name="adj" fmla="val 6667"/>
            </a:avLst>
          </a:prstGeom>
          <a:solidFill>
            <a:srgbClr val="0B1526"/>
          </a:solidFill>
          <a:ln w="6350">
            <a:solidFill>
              <a:srgbClr val="00E5FF">
                <a:alpha val="5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47288" y="32735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License plate recognition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355848" y="3877056"/>
            <a:ext cx="2487168" cy="548640"/>
          </a:xfrm>
          <a:prstGeom prst="rect">
            <a:avLst>
              <a:gd name="adj" fmla="val 6667"/>
            </a:avLst>
          </a:prstGeom>
          <a:solidFill>
            <a:srgbClr val="0B1526"/>
          </a:solidFill>
          <a:ln w="6350">
            <a:solidFill>
              <a:srgbClr val="00E5FF">
                <a:alpha val="5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47288" y="393192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React Native mobile app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126480" y="1170432"/>
            <a:ext cx="2697480" cy="3566160"/>
          </a:xfrm>
          <a:prstGeom prst="rect">
            <a:avLst>
              <a:gd name="adj" fmla="val 2712"/>
            </a:avLst>
          </a:prstGeom>
          <a:solidFill>
            <a:srgbClr val="0D2137"/>
          </a:solidFill>
          <a:ln w="25400">
            <a:solidFill>
              <a:srgbClr val="FFD6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26480" y="1170432"/>
            <a:ext cx="2697480" cy="640080"/>
          </a:xfrm>
          <a:prstGeom prst="rect">
            <a:avLst/>
          </a:prstGeom>
          <a:solidFill>
            <a:srgbClr val="FFD600">
              <a:alpha val="85000"/>
            </a:srgbClr>
          </a:solidFill>
          <a:ln w="12700">
            <a:solidFill>
              <a:srgbClr val="FFD6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17920" y="1207008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🌐  PHASE 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217920" y="149961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6–12 Months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36208" y="1901952"/>
            <a:ext cx="2487168" cy="548640"/>
          </a:xfrm>
          <a:prstGeom prst="rect">
            <a:avLst>
              <a:gd name="adj" fmla="val 6667"/>
            </a:avLst>
          </a:prstGeom>
          <a:solidFill>
            <a:srgbClr val="0B1526"/>
          </a:solidFill>
          <a:ln w="6350">
            <a:solidFill>
              <a:srgbClr val="FFD600">
                <a:alpha val="5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27648" y="1956816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Swarm drone coordination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36208" y="2560320"/>
            <a:ext cx="2487168" cy="548640"/>
          </a:xfrm>
          <a:prstGeom prst="rect">
            <a:avLst>
              <a:gd name="adj" fmla="val 6667"/>
            </a:avLst>
          </a:prstGeom>
          <a:solidFill>
            <a:srgbClr val="0B1526"/>
          </a:solidFill>
          <a:ln w="6350">
            <a:solidFill>
              <a:srgbClr val="FFD600">
                <a:alpha val="5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27648" y="2615184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NVIDIA Jetson edge AI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36208" y="3218688"/>
            <a:ext cx="2487168" cy="548640"/>
          </a:xfrm>
          <a:prstGeom prst="rect">
            <a:avLst>
              <a:gd name="adj" fmla="val 6667"/>
            </a:avLst>
          </a:prstGeom>
          <a:solidFill>
            <a:srgbClr val="0B1526"/>
          </a:solidFill>
          <a:ln w="6350">
            <a:solidFill>
              <a:srgbClr val="FFD600">
                <a:alpha val="5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27648" y="32735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ONVIF CCTV integration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236208" y="3877056"/>
            <a:ext cx="2487168" cy="548640"/>
          </a:xfrm>
          <a:prstGeom prst="rect">
            <a:avLst>
              <a:gd name="adj" fmla="val 6667"/>
            </a:avLst>
          </a:prstGeom>
          <a:solidFill>
            <a:srgbClr val="0B1526"/>
          </a:solidFill>
          <a:ln w="6350">
            <a:solidFill>
              <a:srgbClr val="FFD600">
                <a:alpha val="50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27648" y="393192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Auto incident report generation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65760" y="4754880"/>
            <a:ext cx="8412480" cy="182880"/>
          </a:xfrm>
          <a:prstGeom prst="rect">
            <a:avLst/>
          </a:prstGeom>
          <a:solidFill>
            <a:srgbClr val="0D2137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2920" y="4773168"/>
            <a:ext cx="8229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F8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"The future is autonomous, and SKYGUARD AI is already there."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14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40C1A"/>
          </a:solidFill>
          <a:ln w="12700">
            <a:solidFill>
              <a:srgbClr val="040C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42832" y="0"/>
            <a:ext cx="201168" cy="5143500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60520" y="292608"/>
            <a:ext cx="822960" cy="256032"/>
          </a:xfrm>
          <a:prstGeom prst="rect">
            <a:avLst/>
          </a:prstGeom>
          <a:solidFill>
            <a:srgbClr val="00E5FF">
              <a:alpha val="8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4720" y="393192"/>
            <a:ext cx="2194560" cy="54864"/>
          </a:xfrm>
          <a:prstGeom prst="rect">
            <a:avLst/>
          </a:prstGeom>
          <a:solidFill>
            <a:srgbClr val="00E5FF">
              <a:alpha val="6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44568" y="128016"/>
            <a:ext cx="54864" cy="585216"/>
          </a:xfrm>
          <a:prstGeom prst="rect">
            <a:avLst/>
          </a:prstGeom>
          <a:solidFill>
            <a:srgbClr val="00E5FF">
              <a:alpha val="6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91840" y="274320"/>
            <a:ext cx="384048" cy="109728"/>
          </a:xfrm>
          <a:prstGeom prst="oval">
            <a:avLst/>
          </a:prstGeom>
          <a:solidFill>
            <a:srgbClr val="00E5FF">
              <a:alpha val="5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0" y="274320"/>
            <a:ext cx="384048" cy="109728"/>
          </a:xfrm>
          <a:prstGeom prst="oval">
            <a:avLst/>
          </a:prstGeom>
          <a:solidFill>
            <a:srgbClr val="00E5FF">
              <a:alpha val="5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0" y="2194560"/>
            <a:ext cx="1463040" cy="1463040"/>
          </a:xfrm>
          <a:prstGeom prst="oval">
            <a:avLst/>
          </a:prstGeom>
          <a:solidFill>
            <a:srgbClr val="0A1628">
              <a:alpha val="0"/>
            </a:srgbClr>
          </a:solidFill>
          <a:ln w="12700">
            <a:solidFill>
              <a:srgbClr val="00E5FF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1645920"/>
            <a:ext cx="2560320" cy="2560320"/>
          </a:xfrm>
          <a:prstGeom prst="oval">
            <a:avLst/>
          </a:prstGeom>
          <a:solidFill>
            <a:srgbClr val="0A1628">
              <a:alpha val="0"/>
            </a:srgbClr>
          </a:solidFill>
          <a:ln w="12700">
            <a:solidFill>
              <a:srgbClr val="00E5FF">
                <a:alpha val="1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51760" y="1005840"/>
            <a:ext cx="3840480" cy="3840480"/>
          </a:xfrm>
          <a:prstGeom prst="oval">
            <a:avLst/>
          </a:prstGeom>
          <a:solidFill>
            <a:srgbClr val="0A1628">
              <a:alpha val="0"/>
            </a:srgbClr>
          </a:solidFill>
          <a:ln w="12700">
            <a:solidFill>
              <a:srgbClr val="25D366">
                <a:alpha val="8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26187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457200" y="2084832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🛸  SKYGUARD AI — Protecting the Perimeter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86384" y="2834640"/>
            <a:ext cx="685800" cy="685800"/>
          </a:xfrm>
          <a:prstGeom prst="oval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2880360"/>
            <a:ext cx="685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🤖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4944" y="3566160"/>
            <a:ext cx="868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Detection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359152" y="2834640"/>
            <a:ext cx="685800" cy="685800"/>
          </a:xfrm>
          <a:prstGeom prst="oval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59152" y="2880360"/>
            <a:ext cx="685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🛸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267712" y="3566160"/>
            <a:ext cx="868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Raspberry Pi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Cam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931920" y="2834640"/>
            <a:ext cx="685800" cy="685800"/>
          </a:xfrm>
          <a:prstGeom prst="oval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31920" y="2880360"/>
            <a:ext cx="685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840480" y="3566160"/>
            <a:ext cx="868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504688" y="2834640"/>
            <a:ext cx="685800" cy="685800"/>
          </a:xfrm>
          <a:prstGeom prst="oval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04688" y="2880360"/>
            <a:ext cx="685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🚨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413248" y="3566160"/>
            <a:ext cx="868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077456" y="2834640"/>
            <a:ext cx="685800" cy="685800"/>
          </a:xfrm>
          <a:prstGeom prst="oval">
            <a:avLst/>
          </a:prstGeom>
          <a:solidFill>
            <a:srgbClr val="0D2137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77456" y="2880360"/>
            <a:ext cx="685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986016" y="3566160"/>
            <a:ext cx="868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Tactical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371600" y="4187952"/>
            <a:ext cx="6400800" cy="603504"/>
          </a:xfrm>
          <a:prstGeom prst="rect">
            <a:avLst>
              <a:gd name="adj" fmla="val 15152"/>
            </a:avLst>
          </a:prstGeom>
          <a:solidFill>
            <a:srgbClr val="128C7E">
              <a:alpha val="90000"/>
            </a:srgbClr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508760" y="4279392"/>
            <a:ext cx="6126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F8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Questions? Let's talk!   |   📂 github.com/your-team/skyguard-ai   |   ✓✓ Seen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SKYGUARD AI — Smart Surveillance Drone System</dc:title>
  <dc:subject>Hackathon Presentation</dc:subject>
  <dc:creator>SKYGUARD Team</dc:creator>
  <cp:lastModifiedBy>SKYGUARD Team</cp:lastModifiedBy>
  <cp:revision>1</cp:revision>
  <dcterms:created xsi:type="dcterms:W3CDTF">2026-05-15T02:53:37Z</dcterms:created>
  <dcterms:modified xsi:type="dcterms:W3CDTF">2026-05-15T02:53:37Z</dcterms:modified>
</cp:coreProperties>
</file>